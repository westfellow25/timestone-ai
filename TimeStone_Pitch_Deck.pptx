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366F1"/>
          </a:solidFill>
          <a:ln w="12700">
            <a:solidFill>
              <a:srgbClr val="6366F1"/>
            </a:solidFill>
            <a:prstDash val="solid"/>
          </a:ln>
        </p:spPr>
      </p:sp>
      <p:sp>
        <p:nvSpPr>
          <p:cNvPr id="3" name="Text 1"/>
          <p:cNvSpPr/>
          <p:nvPr/>
        </p:nvSpPr>
        <p:spPr>
          <a:xfrm>
            <a:off x="731520" y="640080"/>
            <a:ext cx="5486400" cy="365760"/>
          </a:xfrm>
          <a:prstGeom prst="rect">
            <a:avLst/>
          </a:prstGeom>
          <a:noFill/>
          <a:ln/>
        </p:spPr>
        <p:txBody>
          <a:bodyPr wrap="square" rtlCol="0" anchor="ctr"/>
          <a:lstStyle/>
          <a:p>
            <a:pPr indent="0" marL="0">
              <a:buNone/>
            </a:pPr>
            <a:r>
              <a:rPr lang="en-US" sz="1200" b="1" spc="300" kern="0" dirty="0">
                <a:solidFill>
                  <a:srgbClr val="22D3EE"/>
                </a:solidFill>
                <a:latin typeface="Calibri" pitchFamily="34" charset="0"/>
                <a:ea typeface="Calibri" pitchFamily="34" charset="-122"/>
                <a:cs typeface="Calibri" pitchFamily="34" charset="-120"/>
              </a:rPr>
              <a:t>• INVESTOR PREVIEW · MAY 2026</a:t>
            </a:r>
            <a:endParaRPr lang="en-US" sz="1200" dirty="0"/>
          </a:p>
        </p:txBody>
      </p:sp>
      <p:sp>
        <p:nvSpPr>
          <p:cNvPr id="4" name="Text 2"/>
          <p:cNvSpPr/>
          <p:nvPr/>
        </p:nvSpPr>
        <p:spPr>
          <a:xfrm>
            <a:off x="731520" y="1188720"/>
            <a:ext cx="10972800" cy="1280160"/>
          </a:xfrm>
          <a:prstGeom prst="rect">
            <a:avLst/>
          </a:prstGeom>
          <a:noFill/>
          <a:ln/>
        </p:spPr>
        <p:txBody>
          <a:bodyPr wrap="square" rtlCol="0" anchor="t"/>
          <a:lstStyle/>
          <a:p>
            <a:pPr indent="0" marL="0">
              <a:buNone/>
            </a:pPr>
            <a:r>
              <a:rPr lang="en-US" sz="6400" b="1" dirty="0">
                <a:solidFill>
                  <a:srgbClr val="F1F5F9"/>
                </a:solidFill>
                <a:latin typeface="Calibri" pitchFamily="34" charset="0"/>
                <a:ea typeface="Calibri" pitchFamily="34" charset="-122"/>
                <a:cs typeface="Calibri" pitchFamily="34" charset="-120"/>
              </a:rPr>
              <a:t>TimeStone</a:t>
            </a:r>
            <a:pPr indent="0" marL="0">
              <a:buNone/>
            </a:pPr>
            <a:r>
              <a:rPr lang="en-US" sz="6400" dirty="0">
                <a:solidFill>
                  <a:srgbClr val="000000"/>
                </a:solidFill>
                <a:latin typeface="Calibri" pitchFamily="34" charset="0"/>
                <a:ea typeface="Calibri" pitchFamily="34" charset="-122"/>
                <a:cs typeface="Calibri" pitchFamily="34" charset="-120"/>
              </a:rPr>
              <a:t> </a:t>
            </a:r>
            <a:pPr indent="0" marL="0">
              <a:buNone/>
            </a:pPr>
            <a:r>
              <a:rPr lang="en-US" sz="6400" b="1" dirty="0">
                <a:solidFill>
                  <a:srgbClr val="818CF8"/>
                </a:solidFill>
                <a:latin typeface="Calibri" pitchFamily="34" charset="0"/>
                <a:ea typeface="Calibri" pitchFamily="34" charset="-122"/>
                <a:cs typeface="Calibri" pitchFamily="34" charset="-120"/>
              </a:rPr>
              <a:t>AI</a:t>
            </a:r>
            <a:endParaRPr lang="en-US" sz="6400" dirty="0"/>
          </a:p>
        </p:txBody>
      </p:sp>
      <p:sp>
        <p:nvSpPr>
          <p:cNvPr id="5" name="Text 3"/>
          <p:cNvSpPr/>
          <p:nvPr/>
        </p:nvSpPr>
        <p:spPr>
          <a:xfrm>
            <a:off x="731520" y="2468880"/>
            <a:ext cx="10972800" cy="640080"/>
          </a:xfrm>
          <a:prstGeom prst="rect">
            <a:avLst/>
          </a:prstGeom>
          <a:noFill/>
          <a:ln/>
        </p:spPr>
        <p:txBody>
          <a:bodyPr wrap="square" rtlCol="0" anchor="ctr"/>
          <a:lstStyle/>
          <a:p>
            <a:pPr indent="0" marL="0">
              <a:buNone/>
            </a:pPr>
            <a:r>
              <a:rPr lang="en-US" sz="2800" i="1" dirty="0">
                <a:solidFill>
                  <a:srgbClr val="CBD5E1"/>
                </a:solidFill>
                <a:latin typeface="Calibri" pitchFamily="34" charset="0"/>
                <a:ea typeface="Calibri" pitchFamily="34" charset="-122"/>
                <a:cs typeface="Calibri" pitchFamily="34" charset="-120"/>
              </a:rPr>
              <a:t>Forecast railway transformations with math, not optimism</a:t>
            </a:r>
            <a:endParaRPr lang="en-US" sz="2800" dirty="0"/>
          </a:p>
        </p:txBody>
      </p:sp>
      <p:sp>
        <p:nvSpPr>
          <p:cNvPr id="6" name="Text 4"/>
          <p:cNvSpPr/>
          <p:nvPr/>
        </p:nvSpPr>
        <p:spPr>
          <a:xfrm>
            <a:off x="731520" y="3291840"/>
            <a:ext cx="10058400" cy="91440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purpose-built decision tool for railway holding CEOs and CFOs.</a:t>
            </a:r>
            <a:endParaRPr lang="en-US" sz="1600" dirty="0"/>
          </a:p>
          <a:p>
            <a:pPr indent="0" marL="0">
              <a:buNone/>
            </a:pPr>
            <a:r>
              <a:rPr lang="en-US" sz="1600" dirty="0">
                <a:solidFill>
                  <a:srgbClr val="94A3B8"/>
                </a:solidFill>
                <a:latin typeface="Calibri" pitchFamily="34" charset="0"/>
                <a:ea typeface="Calibri" pitchFamily="34" charset="-122"/>
                <a:cs typeface="Calibri" pitchFamily="34" charset="-120"/>
              </a:rPr>
              <a:t>Evidence-based Monte Carlo with rail-only peer calibration.</a:t>
            </a:r>
            <a:endParaRPr lang="en-US" sz="1600" dirty="0"/>
          </a:p>
        </p:txBody>
      </p:sp>
      <p:sp>
        <p:nvSpPr>
          <p:cNvPr id="7" name="Shape 5"/>
          <p:cNvSpPr/>
          <p:nvPr/>
        </p:nvSpPr>
        <p:spPr>
          <a:xfrm>
            <a:off x="731520" y="4572000"/>
            <a:ext cx="2468880" cy="1097280"/>
          </a:xfrm>
          <a:prstGeom prst="roundRect">
            <a:avLst>
              <a:gd name="adj" fmla="val 8333"/>
            </a:avLst>
          </a:prstGeom>
          <a:solidFill>
            <a:srgbClr val="131A2E"/>
          </a:solidFill>
          <a:ln w="12700">
            <a:solidFill>
              <a:srgbClr val="1F2A44"/>
            </a:solidFill>
            <a:prstDash val="solid"/>
          </a:ln>
        </p:spPr>
      </p:sp>
      <p:sp>
        <p:nvSpPr>
          <p:cNvPr id="8" name="Text 6"/>
          <p:cNvSpPr/>
          <p:nvPr/>
        </p:nvSpPr>
        <p:spPr>
          <a:xfrm>
            <a:off x="822960" y="4709160"/>
            <a:ext cx="2286000" cy="502920"/>
          </a:xfrm>
          <a:prstGeom prst="rect">
            <a:avLst/>
          </a:prstGeom>
          <a:noFill/>
          <a:ln/>
        </p:spPr>
        <p:txBody>
          <a:bodyPr wrap="square" rtlCol="0" anchor="ctr"/>
          <a:lstStyle/>
          <a:p>
            <a:pPr algn="ctr" indent="0" marL="0">
              <a:buNone/>
            </a:pPr>
            <a:r>
              <a:rPr lang="en-US" sz="3600" b="1" dirty="0">
                <a:solidFill>
                  <a:srgbClr val="818CF8"/>
                </a:solidFill>
                <a:latin typeface="Calibri" pitchFamily="34" charset="0"/>
                <a:ea typeface="Calibri" pitchFamily="34" charset="-122"/>
                <a:cs typeface="Calibri" pitchFamily="34" charset="-120"/>
              </a:rPr>
              <a:t>18</a:t>
            </a:r>
            <a:endParaRPr lang="en-US" sz="3600" dirty="0"/>
          </a:p>
        </p:txBody>
      </p:sp>
      <p:sp>
        <p:nvSpPr>
          <p:cNvPr id="9" name="Text 7"/>
          <p:cNvSpPr/>
          <p:nvPr/>
        </p:nvSpPr>
        <p:spPr>
          <a:xfrm>
            <a:off x="822960" y="5257800"/>
            <a:ext cx="2286000" cy="3657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Real rail peers</a:t>
            </a:r>
            <a:endParaRPr lang="en-US" sz="1100" dirty="0"/>
          </a:p>
        </p:txBody>
      </p:sp>
      <p:sp>
        <p:nvSpPr>
          <p:cNvPr id="10" name="Shape 8"/>
          <p:cNvSpPr/>
          <p:nvPr/>
        </p:nvSpPr>
        <p:spPr>
          <a:xfrm>
            <a:off x="3474720" y="4572000"/>
            <a:ext cx="2468880" cy="1097280"/>
          </a:xfrm>
          <a:prstGeom prst="roundRect">
            <a:avLst>
              <a:gd name="adj" fmla="val 8333"/>
            </a:avLst>
          </a:prstGeom>
          <a:solidFill>
            <a:srgbClr val="131A2E"/>
          </a:solidFill>
          <a:ln w="12700">
            <a:solidFill>
              <a:srgbClr val="1F2A44"/>
            </a:solidFill>
            <a:prstDash val="solid"/>
          </a:ln>
        </p:spPr>
      </p:sp>
      <p:sp>
        <p:nvSpPr>
          <p:cNvPr id="11" name="Text 9"/>
          <p:cNvSpPr/>
          <p:nvPr/>
        </p:nvSpPr>
        <p:spPr>
          <a:xfrm>
            <a:off x="3566160" y="4709160"/>
            <a:ext cx="2286000" cy="502920"/>
          </a:xfrm>
          <a:prstGeom prst="rect">
            <a:avLst/>
          </a:prstGeom>
          <a:noFill/>
          <a:ln/>
        </p:spPr>
        <p:txBody>
          <a:bodyPr wrap="square" rtlCol="0" anchor="ctr"/>
          <a:lstStyle/>
          <a:p>
            <a:pPr algn="ctr" indent="0" marL="0">
              <a:buNone/>
            </a:pPr>
            <a:r>
              <a:rPr lang="en-US" sz="3600" b="1" dirty="0">
                <a:solidFill>
                  <a:srgbClr val="818CF8"/>
                </a:solidFill>
                <a:latin typeface="Calibri" pitchFamily="34" charset="0"/>
                <a:ea typeface="Calibri" pitchFamily="34" charset="-122"/>
                <a:cs typeface="Calibri" pitchFamily="34" charset="-120"/>
              </a:rPr>
              <a:t>40</a:t>
            </a:r>
            <a:endParaRPr lang="en-US" sz="3600" dirty="0"/>
          </a:p>
        </p:txBody>
      </p:sp>
      <p:sp>
        <p:nvSpPr>
          <p:cNvPr id="12" name="Text 10"/>
          <p:cNvSpPr/>
          <p:nvPr/>
        </p:nvSpPr>
        <p:spPr>
          <a:xfrm>
            <a:off x="3566160" y="5257800"/>
            <a:ext cx="2286000" cy="3657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KTZ initiatives</a:t>
            </a:r>
            <a:endParaRPr lang="en-US" sz="1100" dirty="0"/>
          </a:p>
        </p:txBody>
      </p:sp>
      <p:sp>
        <p:nvSpPr>
          <p:cNvPr id="13" name="Shape 11"/>
          <p:cNvSpPr/>
          <p:nvPr/>
        </p:nvSpPr>
        <p:spPr>
          <a:xfrm>
            <a:off x="6217920" y="4572000"/>
            <a:ext cx="2468880" cy="1097280"/>
          </a:xfrm>
          <a:prstGeom prst="roundRect">
            <a:avLst>
              <a:gd name="adj" fmla="val 8333"/>
            </a:avLst>
          </a:prstGeom>
          <a:solidFill>
            <a:srgbClr val="131A2E"/>
          </a:solidFill>
          <a:ln w="12700">
            <a:solidFill>
              <a:srgbClr val="1F2A44"/>
            </a:solidFill>
            <a:prstDash val="solid"/>
          </a:ln>
        </p:spPr>
      </p:sp>
      <p:sp>
        <p:nvSpPr>
          <p:cNvPr id="14" name="Text 12"/>
          <p:cNvSpPr/>
          <p:nvPr/>
        </p:nvSpPr>
        <p:spPr>
          <a:xfrm>
            <a:off x="6309360" y="4709160"/>
            <a:ext cx="2286000" cy="502920"/>
          </a:xfrm>
          <a:prstGeom prst="rect">
            <a:avLst/>
          </a:prstGeom>
          <a:noFill/>
          <a:ln/>
        </p:spPr>
        <p:txBody>
          <a:bodyPr wrap="square" rtlCol="0" anchor="ctr"/>
          <a:lstStyle/>
          <a:p>
            <a:pPr algn="ctr" indent="0" marL="0">
              <a:buNone/>
            </a:pPr>
            <a:r>
              <a:rPr lang="en-US" sz="3600" b="1" dirty="0">
                <a:solidFill>
                  <a:srgbClr val="818CF8"/>
                </a:solidFill>
                <a:latin typeface="Calibri" pitchFamily="34" charset="0"/>
                <a:ea typeface="Calibri" pitchFamily="34" charset="-122"/>
                <a:cs typeface="Calibri" pitchFamily="34" charset="-120"/>
              </a:rPr>
              <a:t>100</a:t>
            </a:r>
            <a:endParaRPr lang="en-US" sz="3600" dirty="0"/>
          </a:p>
        </p:txBody>
      </p:sp>
      <p:sp>
        <p:nvSpPr>
          <p:cNvPr id="15" name="Text 13"/>
          <p:cNvSpPr/>
          <p:nvPr/>
        </p:nvSpPr>
        <p:spPr>
          <a:xfrm>
            <a:off x="6309360" y="5257800"/>
            <a:ext cx="2286000" cy="3657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Parallel timelines / run</a:t>
            </a:r>
            <a:endParaRPr lang="en-US" sz="1100" dirty="0"/>
          </a:p>
        </p:txBody>
      </p:sp>
      <p:sp>
        <p:nvSpPr>
          <p:cNvPr id="16" name="Shape 14"/>
          <p:cNvSpPr/>
          <p:nvPr/>
        </p:nvSpPr>
        <p:spPr>
          <a:xfrm>
            <a:off x="8961120" y="4572000"/>
            <a:ext cx="2468880" cy="1097280"/>
          </a:xfrm>
          <a:prstGeom prst="roundRect">
            <a:avLst>
              <a:gd name="adj" fmla="val 8333"/>
            </a:avLst>
          </a:prstGeom>
          <a:solidFill>
            <a:srgbClr val="131A2E"/>
          </a:solidFill>
          <a:ln w="12700">
            <a:solidFill>
              <a:srgbClr val="1F2A44"/>
            </a:solidFill>
            <a:prstDash val="solid"/>
          </a:ln>
        </p:spPr>
      </p:sp>
      <p:sp>
        <p:nvSpPr>
          <p:cNvPr id="17" name="Text 15"/>
          <p:cNvSpPr/>
          <p:nvPr/>
        </p:nvSpPr>
        <p:spPr>
          <a:xfrm>
            <a:off x="9052560" y="4709160"/>
            <a:ext cx="2286000" cy="502920"/>
          </a:xfrm>
          <a:prstGeom prst="rect">
            <a:avLst/>
          </a:prstGeom>
          <a:noFill/>
          <a:ln/>
        </p:spPr>
        <p:txBody>
          <a:bodyPr wrap="square" rtlCol="0" anchor="ctr"/>
          <a:lstStyle/>
          <a:p>
            <a:pPr algn="ctr" indent="0" marL="0">
              <a:buNone/>
            </a:pPr>
            <a:r>
              <a:rPr lang="en-US" sz="3600" b="1" dirty="0">
                <a:solidFill>
                  <a:srgbClr val="818CF8"/>
                </a:solidFill>
                <a:latin typeface="Calibri" pitchFamily="34" charset="0"/>
                <a:ea typeface="Calibri" pitchFamily="34" charset="-122"/>
                <a:cs typeface="Calibri" pitchFamily="34" charset="-120"/>
              </a:rPr>
              <a:t>47</a:t>
            </a:r>
            <a:endParaRPr lang="en-US" sz="3600" dirty="0"/>
          </a:p>
        </p:txBody>
      </p:sp>
      <p:sp>
        <p:nvSpPr>
          <p:cNvPr id="18" name="Text 16"/>
          <p:cNvSpPr/>
          <p:nvPr/>
        </p:nvSpPr>
        <p:spPr>
          <a:xfrm>
            <a:off x="9052560" y="5257800"/>
            <a:ext cx="2286000" cy="365760"/>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Tests guarding math</a:t>
            </a:r>
            <a:endParaRPr lang="en-US" sz="1100" dirty="0"/>
          </a:p>
        </p:txBody>
      </p:sp>
      <p:sp>
        <p:nvSpPr>
          <p:cNvPr id="19" name="Text 17"/>
          <p:cNvSpPr/>
          <p:nvPr/>
        </p:nvSpPr>
        <p:spPr>
          <a:xfrm>
            <a:off x="731520" y="6400800"/>
            <a:ext cx="10972800" cy="27432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Arman Torebek · westfellow25 · github.com/westfellow25/timestone-ai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731520" y="1005840"/>
            <a:ext cx="10972800" cy="1463040"/>
          </a:xfrm>
          <a:prstGeom prst="rect">
            <a:avLst/>
          </a:prstGeom>
          <a:noFill/>
          <a:ln/>
        </p:spPr>
        <p:txBody>
          <a:bodyPr wrap="square" rtlCol="0" anchor="ctr"/>
          <a:lstStyle/>
          <a:p>
            <a:pPr indent="0" marL="0">
              <a:buNone/>
            </a:pPr>
            <a:r>
              <a:rPr lang="en-US" sz="3600" b="1" dirty="0">
                <a:solidFill>
                  <a:srgbClr val="F1F5F9"/>
                </a:solidFill>
                <a:latin typeface="Calibri" pitchFamily="34" charset="0"/>
                <a:ea typeface="Calibri" pitchFamily="34" charset="-122"/>
                <a:cs typeface="Calibri" pitchFamily="34" charset="-120"/>
              </a:rPr>
              <a:t>CFOs decide on $100M+ transformations</a:t>
            </a:r>
            <a:endParaRPr lang="en-US" sz="3600" dirty="0"/>
          </a:p>
          <a:p>
            <a:pPr indent="0" marL="0">
              <a:buNone/>
            </a:pPr>
            <a:r>
              <a:rPr lang="en-US" sz="3600" b="1" dirty="0">
                <a:solidFill>
                  <a:srgbClr val="F1F5F9"/>
                </a:solidFill>
                <a:latin typeface="Calibri" pitchFamily="34" charset="0"/>
                <a:ea typeface="Calibri" pitchFamily="34" charset="-122"/>
                <a:cs typeface="Calibri" pitchFamily="34" charset="-120"/>
              </a:rPr>
              <a:t>using $0 of evidence.</a:t>
            </a:r>
            <a:endParaRPr lang="en-US" sz="3600" dirty="0"/>
          </a:p>
        </p:txBody>
      </p:sp>
      <p:sp>
        <p:nvSpPr>
          <p:cNvPr id="5" name="Shape 3"/>
          <p:cNvSpPr/>
          <p:nvPr/>
        </p:nvSpPr>
        <p:spPr>
          <a:xfrm>
            <a:off x="731520" y="2926080"/>
            <a:ext cx="3474720" cy="2743200"/>
          </a:xfrm>
          <a:prstGeom prst="roundRect">
            <a:avLst>
              <a:gd name="adj" fmla="val 4000"/>
            </a:avLst>
          </a:prstGeom>
          <a:solidFill>
            <a:srgbClr val="131A2E"/>
          </a:solidFill>
          <a:ln w="12700">
            <a:solidFill>
              <a:srgbClr val="1F2A44"/>
            </a:solidFill>
            <a:prstDash val="solid"/>
          </a:ln>
        </p:spPr>
      </p:sp>
      <p:sp>
        <p:nvSpPr>
          <p:cNvPr id="6" name="Text 4"/>
          <p:cNvSpPr/>
          <p:nvPr/>
        </p:nvSpPr>
        <p:spPr>
          <a:xfrm>
            <a:off x="914400" y="3108960"/>
            <a:ext cx="3108960" cy="1097280"/>
          </a:xfrm>
          <a:prstGeom prst="rect">
            <a:avLst/>
          </a:prstGeom>
          <a:noFill/>
          <a:ln/>
        </p:spPr>
        <p:txBody>
          <a:bodyPr wrap="square" rtlCol="0" anchor="ctr"/>
          <a:lstStyle/>
          <a:p>
            <a:pPr indent="0" marL="0">
              <a:buNone/>
            </a:pPr>
            <a:r>
              <a:rPr lang="en-US" sz="7200" b="1" dirty="0">
                <a:solidFill>
                  <a:srgbClr val="F87171"/>
                </a:solidFill>
                <a:latin typeface="Calibri" pitchFamily="34" charset="0"/>
                <a:ea typeface="Calibri" pitchFamily="34" charset="-122"/>
                <a:cs typeface="Calibri" pitchFamily="34" charset="-120"/>
              </a:rPr>
              <a:t>70%</a:t>
            </a:r>
            <a:endParaRPr lang="en-US" sz="7200" dirty="0"/>
          </a:p>
        </p:txBody>
      </p:sp>
      <p:sp>
        <p:nvSpPr>
          <p:cNvPr id="7" name="Text 5"/>
          <p:cNvSpPr/>
          <p:nvPr/>
        </p:nvSpPr>
        <p:spPr>
          <a:xfrm>
            <a:off x="914400" y="4297680"/>
            <a:ext cx="3108960" cy="128016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of corporate transformations fail to hit promised targets (McKinsey, BCG, Gartner published baselines).</a:t>
            </a:r>
            <a:endParaRPr lang="en-US" sz="1300" dirty="0"/>
          </a:p>
        </p:txBody>
      </p:sp>
      <p:sp>
        <p:nvSpPr>
          <p:cNvPr id="8" name="Shape 6"/>
          <p:cNvSpPr/>
          <p:nvPr/>
        </p:nvSpPr>
        <p:spPr>
          <a:xfrm>
            <a:off x="4480560" y="2926080"/>
            <a:ext cx="3474720" cy="2743200"/>
          </a:xfrm>
          <a:prstGeom prst="roundRect">
            <a:avLst>
              <a:gd name="adj" fmla="val 4000"/>
            </a:avLst>
          </a:prstGeom>
          <a:solidFill>
            <a:srgbClr val="131A2E"/>
          </a:solidFill>
          <a:ln w="12700">
            <a:solidFill>
              <a:srgbClr val="1F2A44"/>
            </a:solidFill>
            <a:prstDash val="solid"/>
          </a:ln>
        </p:spPr>
      </p:sp>
      <p:sp>
        <p:nvSpPr>
          <p:cNvPr id="9" name="Text 7"/>
          <p:cNvSpPr/>
          <p:nvPr/>
        </p:nvSpPr>
        <p:spPr>
          <a:xfrm>
            <a:off x="4663440" y="3108960"/>
            <a:ext cx="3108960" cy="1097280"/>
          </a:xfrm>
          <a:prstGeom prst="rect">
            <a:avLst/>
          </a:prstGeom>
          <a:noFill/>
          <a:ln/>
        </p:spPr>
        <p:txBody>
          <a:bodyPr wrap="square" rtlCol="0" anchor="ctr"/>
          <a:lstStyle/>
          <a:p>
            <a:pPr indent="0" marL="0">
              <a:buNone/>
            </a:pPr>
            <a:r>
              <a:rPr lang="en-US" sz="7200" b="1" dirty="0">
                <a:solidFill>
                  <a:srgbClr val="FBBF24"/>
                </a:solidFill>
                <a:latin typeface="Calibri" pitchFamily="34" charset="0"/>
                <a:ea typeface="Calibri" pitchFamily="34" charset="-122"/>
                <a:cs typeface="Calibri" pitchFamily="34" charset="-120"/>
              </a:rPr>
              <a:t>$4T</a:t>
            </a:r>
            <a:endParaRPr lang="en-US" sz="7200" dirty="0"/>
          </a:p>
        </p:txBody>
      </p:sp>
      <p:sp>
        <p:nvSpPr>
          <p:cNvPr id="10" name="Text 8"/>
          <p:cNvSpPr/>
          <p:nvPr/>
        </p:nvSpPr>
        <p:spPr>
          <a:xfrm>
            <a:off x="4663440" y="4297680"/>
            <a:ext cx="3108960" cy="128016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of value destroyed annually by transformations that didn't reconcile their math, their risk, or their peer base.</a:t>
            </a:r>
            <a:endParaRPr lang="en-US" sz="1300" dirty="0"/>
          </a:p>
        </p:txBody>
      </p:sp>
      <p:sp>
        <p:nvSpPr>
          <p:cNvPr id="11" name="Shape 9"/>
          <p:cNvSpPr/>
          <p:nvPr/>
        </p:nvSpPr>
        <p:spPr>
          <a:xfrm>
            <a:off x="8229600" y="2926080"/>
            <a:ext cx="3474720" cy="2743200"/>
          </a:xfrm>
          <a:prstGeom prst="roundRect">
            <a:avLst>
              <a:gd name="adj" fmla="val 4000"/>
            </a:avLst>
          </a:prstGeom>
          <a:solidFill>
            <a:srgbClr val="131A2E"/>
          </a:solidFill>
          <a:ln w="12700">
            <a:solidFill>
              <a:srgbClr val="1F2A44"/>
            </a:solidFill>
            <a:prstDash val="solid"/>
          </a:ln>
        </p:spPr>
      </p:sp>
      <p:sp>
        <p:nvSpPr>
          <p:cNvPr id="12" name="Text 10"/>
          <p:cNvSpPr/>
          <p:nvPr/>
        </p:nvSpPr>
        <p:spPr>
          <a:xfrm>
            <a:off x="8412480" y="3108960"/>
            <a:ext cx="3108960" cy="1097280"/>
          </a:xfrm>
          <a:prstGeom prst="rect">
            <a:avLst/>
          </a:prstGeom>
          <a:noFill/>
          <a:ln/>
        </p:spPr>
        <p:txBody>
          <a:bodyPr wrap="square" rtlCol="0" anchor="ctr"/>
          <a:lstStyle/>
          <a:p>
            <a:pPr indent="0" marL="0">
              <a:buNone/>
            </a:pPr>
            <a:r>
              <a:rPr lang="en-US" sz="7200" b="1" dirty="0">
                <a:solidFill>
                  <a:srgbClr val="22D3EE"/>
                </a:solidFill>
                <a:latin typeface="Calibri" pitchFamily="34" charset="0"/>
                <a:ea typeface="Calibri" pitchFamily="34" charset="-122"/>
                <a:cs typeface="Calibri" pitchFamily="34" charset="-120"/>
              </a:rPr>
              <a:t>1</a:t>
            </a:r>
            <a:endParaRPr lang="en-US" sz="7200" dirty="0"/>
          </a:p>
        </p:txBody>
      </p:sp>
      <p:sp>
        <p:nvSpPr>
          <p:cNvPr id="13" name="Text 11"/>
          <p:cNvSpPr/>
          <p:nvPr/>
        </p:nvSpPr>
        <p:spPr>
          <a:xfrm>
            <a:off x="8412480" y="4297680"/>
            <a:ext cx="3108960" cy="1280160"/>
          </a:xfrm>
          <a:prstGeom prst="rect">
            <a:avLst/>
          </a:prstGeom>
          <a:noFill/>
          <a:ln/>
        </p:spPr>
        <p:txBody>
          <a:bodyPr wrap="square" rtlCol="0" anchor="ctr"/>
          <a:lstStyle/>
          <a:p>
            <a:pPr indent="0" marL="0">
              <a:buNone/>
            </a:pPr>
            <a:r>
              <a:rPr lang="en-US" sz="1300" dirty="0">
                <a:solidFill>
                  <a:srgbClr val="CBD5E1"/>
                </a:solidFill>
                <a:latin typeface="Calibri" pitchFamily="34" charset="0"/>
                <a:ea typeface="Calibri" pitchFamily="34" charset="-122"/>
                <a:cs typeface="Calibri" pitchFamily="34" charset="-120"/>
              </a:rPr>
              <a:t>evidence-based comparator the average CFO has on the day they sign off the budget. Usually a vendor pitch deck.</a:t>
            </a:r>
            <a:endParaRPr lang="en-US" sz="1300" dirty="0"/>
          </a:p>
        </p:txBody>
      </p:sp>
      <p:sp>
        <p:nvSpPr>
          <p:cNvPr id="14" name="Text 12"/>
          <p:cNvSpPr/>
          <p:nvPr/>
        </p:nvSpPr>
        <p:spPr>
          <a:xfrm>
            <a:off x="731520" y="5943600"/>
            <a:ext cx="10972800" cy="64008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Hertz/Accenture: $32M booking platform lost. GE Predix: $5B writeoff. Lidl SAP: €500M scrapped.</a:t>
            </a:r>
            <a:endParaRPr lang="en-US" sz="1200" dirty="0"/>
          </a:p>
          <a:p>
            <a:pPr indent="0" marL="0">
              <a:buNone/>
            </a:pPr>
            <a:r>
              <a:rPr lang="en-US" sz="1200" i="1" dirty="0">
                <a:solidFill>
                  <a:srgbClr val="94A3B8"/>
                </a:solidFill>
                <a:latin typeface="Calibri" pitchFamily="34" charset="0"/>
                <a:ea typeface="Calibri" pitchFamily="34" charset="-122"/>
                <a:cs typeface="Calibri" pitchFamily="34" charset="-120"/>
              </a:rPr>
              <a:t>The pattern is so consistent that 'transformation' is now a recognised category of write-off in 10-K filings.</a:t>
            </a:r>
            <a:endParaRPr lang="en-US" sz="1200" dirty="0"/>
          </a:p>
        </p:txBody>
      </p:sp>
      <p:sp>
        <p:nvSpPr>
          <p:cNvPr id="15" name="Text 13"/>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16" name="Text 14"/>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12</a:t>
            </a:r>
            <a:endParaRPr lang="en-US" sz="1000" dirty="0"/>
          </a:p>
        </p:txBody>
      </p:sp>
      <p:sp>
        <p:nvSpPr>
          <p:cNvPr id="17" name="Shape 15"/>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THE SOLUTION</a:t>
            </a:r>
            <a:endParaRPr lang="en-US" sz="1000" dirty="0"/>
          </a:p>
        </p:txBody>
      </p:sp>
      <p:sp>
        <p:nvSpPr>
          <p:cNvPr id="4" name="Text 2"/>
          <p:cNvSpPr/>
          <p:nvPr/>
        </p:nvSpPr>
        <p:spPr>
          <a:xfrm>
            <a:off x="731520" y="1005840"/>
            <a:ext cx="10972800" cy="12801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Evidence-based forecasting,</a:t>
            </a:r>
            <a:endParaRPr lang="en-US" sz="3200" dirty="0"/>
          </a:p>
          <a:p>
            <a:pPr indent="0" marL="0">
              <a:buNone/>
            </a:pPr>
            <a:r>
              <a:rPr lang="en-US" sz="3200" b="1" dirty="0">
                <a:solidFill>
                  <a:srgbClr val="F1F5F9"/>
                </a:solidFill>
                <a:latin typeface="Calibri" pitchFamily="34" charset="0"/>
                <a:ea typeface="Calibri" pitchFamily="34" charset="-122"/>
                <a:cs typeface="Calibri" pitchFamily="34" charset="-120"/>
              </a:rPr>
              <a:t>calibrated against real rail peers.</a:t>
            </a:r>
            <a:endParaRPr lang="en-US" sz="3200" dirty="0"/>
          </a:p>
        </p:txBody>
      </p:sp>
      <p:sp>
        <p:nvSpPr>
          <p:cNvPr id="5" name="Shape 3"/>
          <p:cNvSpPr/>
          <p:nvPr/>
        </p:nvSpPr>
        <p:spPr>
          <a:xfrm>
            <a:off x="731520" y="2560320"/>
            <a:ext cx="3474720" cy="1554480"/>
          </a:xfrm>
          <a:prstGeom prst="roundRect">
            <a:avLst>
              <a:gd name="adj" fmla="val 5882"/>
            </a:avLst>
          </a:prstGeom>
          <a:solidFill>
            <a:srgbClr val="131A2E"/>
          </a:solidFill>
          <a:ln w="12700">
            <a:solidFill>
              <a:srgbClr val="1F2A44"/>
            </a:solidFill>
            <a:prstDash val="solid"/>
          </a:ln>
        </p:spPr>
      </p:sp>
      <p:sp>
        <p:nvSpPr>
          <p:cNvPr id="6" name="Shape 4"/>
          <p:cNvSpPr/>
          <p:nvPr/>
        </p:nvSpPr>
        <p:spPr>
          <a:xfrm>
            <a:off x="914400" y="2743200"/>
            <a:ext cx="457200" cy="457200"/>
          </a:xfrm>
          <a:prstGeom prst="roundRect">
            <a:avLst>
              <a:gd name="adj" fmla="val 16000"/>
            </a:avLst>
          </a:prstGeom>
          <a:solidFill>
            <a:srgbClr val="6366F1"/>
          </a:solidFill>
          <a:ln w="12700">
            <a:solidFill>
              <a:srgbClr val="6366F1"/>
            </a:solidFill>
            <a:prstDash val="solid"/>
          </a:ln>
        </p:spPr>
      </p:sp>
      <p:sp>
        <p:nvSpPr>
          <p:cNvPr id="7" name="Text 5"/>
          <p:cNvSpPr/>
          <p:nvPr/>
        </p:nvSpPr>
        <p:spPr>
          <a:xfrm>
            <a:off x="914400" y="274320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508760" y="276148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Holding twin</a:t>
            </a:r>
            <a:endParaRPr lang="en-US" sz="1600" dirty="0"/>
          </a:p>
        </p:txBody>
      </p:sp>
      <p:sp>
        <p:nvSpPr>
          <p:cNvPr id="9" name="Text 7"/>
          <p:cNvSpPr/>
          <p:nvPr/>
        </p:nvSpPr>
        <p:spPr>
          <a:xfrm>
            <a:off x="1508760" y="320040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Revenue mix, segments, prior transformations (including failures).</a:t>
            </a:r>
            <a:endParaRPr lang="en-US" sz="1100" dirty="0"/>
          </a:p>
        </p:txBody>
      </p:sp>
      <p:sp>
        <p:nvSpPr>
          <p:cNvPr id="10" name="Shape 8"/>
          <p:cNvSpPr/>
          <p:nvPr/>
        </p:nvSpPr>
        <p:spPr>
          <a:xfrm>
            <a:off x="4389120" y="2560320"/>
            <a:ext cx="3474720" cy="1554480"/>
          </a:xfrm>
          <a:prstGeom prst="roundRect">
            <a:avLst>
              <a:gd name="adj" fmla="val 5882"/>
            </a:avLst>
          </a:prstGeom>
          <a:solidFill>
            <a:srgbClr val="131A2E"/>
          </a:solidFill>
          <a:ln w="12700">
            <a:solidFill>
              <a:srgbClr val="1F2A44"/>
            </a:solidFill>
            <a:prstDash val="solid"/>
          </a:ln>
        </p:spPr>
      </p:sp>
      <p:sp>
        <p:nvSpPr>
          <p:cNvPr id="11" name="Shape 9"/>
          <p:cNvSpPr/>
          <p:nvPr/>
        </p:nvSpPr>
        <p:spPr>
          <a:xfrm>
            <a:off x="4572000" y="2743200"/>
            <a:ext cx="457200" cy="457200"/>
          </a:xfrm>
          <a:prstGeom prst="roundRect">
            <a:avLst>
              <a:gd name="adj" fmla="val 16000"/>
            </a:avLst>
          </a:prstGeom>
          <a:solidFill>
            <a:srgbClr val="6366F1"/>
          </a:solidFill>
          <a:ln w="12700">
            <a:solidFill>
              <a:srgbClr val="6366F1"/>
            </a:solidFill>
            <a:prstDash val="solid"/>
          </a:ln>
        </p:spPr>
      </p:sp>
      <p:sp>
        <p:nvSpPr>
          <p:cNvPr id="12" name="Text 10"/>
          <p:cNvSpPr/>
          <p:nvPr/>
        </p:nvSpPr>
        <p:spPr>
          <a:xfrm>
            <a:off x="4572000" y="274320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5166360" y="276148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Filter universe</a:t>
            </a:r>
            <a:endParaRPr lang="en-US" sz="1600" dirty="0"/>
          </a:p>
        </p:txBody>
      </p:sp>
      <p:sp>
        <p:nvSpPr>
          <p:cNvPr id="14" name="Text 12"/>
          <p:cNvSpPr/>
          <p:nvPr/>
        </p:nvSpPr>
        <p:spPr>
          <a:xfrm>
            <a:off x="5166360" y="320040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6 dimensions: objective, budget, horizon, risk, segment, model.</a:t>
            </a:r>
            <a:endParaRPr lang="en-US" sz="1100" dirty="0"/>
          </a:p>
        </p:txBody>
      </p:sp>
      <p:sp>
        <p:nvSpPr>
          <p:cNvPr id="15" name="Shape 13"/>
          <p:cNvSpPr/>
          <p:nvPr/>
        </p:nvSpPr>
        <p:spPr>
          <a:xfrm>
            <a:off x="8046720" y="2560320"/>
            <a:ext cx="3474720" cy="1554480"/>
          </a:xfrm>
          <a:prstGeom prst="roundRect">
            <a:avLst>
              <a:gd name="adj" fmla="val 5882"/>
            </a:avLst>
          </a:prstGeom>
          <a:solidFill>
            <a:srgbClr val="131A2E"/>
          </a:solidFill>
          <a:ln w="12700">
            <a:solidFill>
              <a:srgbClr val="1F2A44"/>
            </a:solidFill>
            <a:prstDash val="solid"/>
          </a:ln>
        </p:spPr>
      </p:sp>
      <p:sp>
        <p:nvSpPr>
          <p:cNvPr id="16" name="Shape 14"/>
          <p:cNvSpPr/>
          <p:nvPr/>
        </p:nvSpPr>
        <p:spPr>
          <a:xfrm>
            <a:off x="8229600" y="2743200"/>
            <a:ext cx="457200" cy="457200"/>
          </a:xfrm>
          <a:prstGeom prst="roundRect">
            <a:avLst>
              <a:gd name="adj" fmla="val 16000"/>
            </a:avLst>
          </a:prstGeom>
          <a:solidFill>
            <a:srgbClr val="6366F1"/>
          </a:solidFill>
          <a:ln w="12700">
            <a:solidFill>
              <a:srgbClr val="6366F1"/>
            </a:solidFill>
            <a:prstDash val="solid"/>
          </a:ln>
        </p:spPr>
      </p:sp>
      <p:sp>
        <p:nvSpPr>
          <p:cNvPr id="17" name="Text 15"/>
          <p:cNvSpPr/>
          <p:nvPr/>
        </p:nvSpPr>
        <p:spPr>
          <a:xfrm>
            <a:off x="8229600" y="274320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8823960" y="276148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Match rail peers</a:t>
            </a:r>
            <a:endParaRPr lang="en-US" sz="1600" dirty="0"/>
          </a:p>
        </p:txBody>
      </p:sp>
      <p:sp>
        <p:nvSpPr>
          <p:cNvPr id="19" name="Text 17"/>
          <p:cNvSpPr/>
          <p:nvPr/>
        </p:nvSpPr>
        <p:spPr>
          <a:xfrm>
            <a:off x="8823960" y="320040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Top-5 most similar from BHP, Union Pacific, DB Cargo, RZD, CN Rail.</a:t>
            </a:r>
            <a:endParaRPr lang="en-US" sz="1100" dirty="0"/>
          </a:p>
        </p:txBody>
      </p:sp>
      <p:sp>
        <p:nvSpPr>
          <p:cNvPr id="20" name="Shape 18"/>
          <p:cNvSpPr/>
          <p:nvPr/>
        </p:nvSpPr>
        <p:spPr>
          <a:xfrm>
            <a:off x="731520" y="4343400"/>
            <a:ext cx="3474720" cy="1554480"/>
          </a:xfrm>
          <a:prstGeom prst="roundRect">
            <a:avLst>
              <a:gd name="adj" fmla="val 5882"/>
            </a:avLst>
          </a:prstGeom>
          <a:solidFill>
            <a:srgbClr val="131A2E"/>
          </a:solidFill>
          <a:ln w="12700">
            <a:solidFill>
              <a:srgbClr val="1F2A44"/>
            </a:solidFill>
            <a:prstDash val="solid"/>
          </a:ln>
        </p:spPr>
      </p:sp>
      <p:sp>
        <p:nvSpPr>
          <p:cNvPr id="21" name="Shape 19"/>
          <p:cNvSpPr/>
          <p:nvPr/>
        </p:nvSpPr>
        <p:spPr>
          <a:xfrm>
            <a:off x="914400" y="4526280"/>
            <a:ext cx="457200" cy="457200"/>
          </a:xfrm>
          <a:prstGeom prst="roundRect">
            <a:avLst>
              <a:gd name="adj" fmla="val 16000"/>
            </a:avLst>
          </a:prstGeom>
          <a:solidFill>
            <a:srgbClr val="6366F1"/>
          </a:solidFill>
          <a:ln w="12700">
            <a:solidFill>
              <a:srgbClr val="6366F1"/>
            </a:solidFill>
            <a:prstDash val="solid"/>
          </a:ln>
        </p:spPr>
      </p:sp>
      <p:sp>
        <p:nvSpPr>
          <p:cNvPr id="22" name="Text 20"/>
          <p:cNvSpPr/>
          <p:nvPr/>
        </p:nvSpPr>
        <p:spPr>
          <a:xfrm>
            <a:off x="914400" y="452628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1508760" y="454456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Empirical priors</a:t>
            </a:r>
            <a:endParaRPr lang="en-US" sz="1600" dirty="0"/>
          </a:p>
        </p:txBody>
      </p:sp>
      <p:sp>
        <p:nvSpPr>
          <p:cNvPr id="24" name="Text 22"/>
          <p:cNvSpPr/>
          <p:nvPr/>
        </p:nvSpPr>
        <p:spPr>
          <a:xfrm>
            <a:off x="1508760" y="498348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Distribution of actual uplift from matched peers — no guessing.</a:t>
            </a:r>
            <a:endParaRPr lang="en-US" sz="1100" dirty="0"/>
          </a:p>
        </p:txBody>
      </p:sp>
      <p:sp>
        <p:nvSpPr>
          <p:cNvPr id="25" name="Shape 23"/>
          <p:cNvSpPr/>
          <p:nvPr/>
        </p:nvSpPr>
        <p:spPr>
          <a:xfrm>
            <a:off x="4389120" y="4343400"/>
            <a:ext cx="3474720" cy="1554480"/>
          </a:xfrm>
          <a:prstGeom prst="roundRect">
            <a:avLst>
              <a:gd name="adj" fmla="val 5882"/>
            </a:avLst>
          </a:prstGeom>
          <a:solidFill>
            <a:srgbClr val="131A2E"/>
          </a:solidFill>
          <a:ln w="12700">
            <a:solidFill>
              <a:srgbClr val="1F2A44"/>
            </a:solidFill>
            <a:prstDash val="solid"/>
          </a:ln>
        </p:spPr>
      </p:sp>
      <p:sp>
        <p:nvSpPr>
          <p:cNvPr id="26" name="Shape 24"/>
          <p:cNvSpPr/>
          <p:nvPr/>
        </p:nvSpPr>
        <p:spPr>
          <a:xfrm>
            <a:off x="4572000" y="4526280"/>
            <a:ext cx="457200" cy="457200"/>
          </a:xfrm>
          <a:prstGeom prst="roundRect">
            <a:avLst>
              <a:gd name="adj" fmla="val 16000"/>
            </a:avLst>
          </a:prstGeom>
          <a:solidFill>
            <a:srgbClr val="6366F1"/>
          </a:solidFill>
          <a:ln w="12700">
            <a:solidFill>
              <a:srgbClr val="6366F1"/>
            </a:solidFill>
            <a:prstDash val="solid"/>
          </a:ln>
        </p:spPr>
      </p:sp>
      <p:sp>
        <p:nvSpPr>
          <p:cNvPr id="27" name="Text 25"/>
          <p:cNvSpPr/>
          <p:nvPr/>
        </p:nvSpPr>
        <p:spPr>
          <a:xfrm>
            <a:off x="4572000" y="452628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5166360" y="454456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Monte Carlo + NPV</a:t>
            </a:r>
            <a:endParaRPr lang="en-US" sz="1600" dirty="0"/>
          </a:p>
        </p:txBody>
      </p:sp>
      <p:sp>
        <p:nvSpPr>
          <p:cNvPr id="29" name="Text 27"/>
          <p:cNvSpPr/>
          <p:nvPr/>
        </p:nvSpPr>
        <p:spPr>
          <a:xfrm>
            <a:off x="5166360" y="498348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1,000 iterations with shocks, ramp-up, cost-flow-consistent math.</a:t>
            </a:r>
            <a:endParaRPr lang="en-US" sz="1100" dirty="0"/>
          </a:p>
        </p:txBody>
      </p:sp>
      <p:sp>
        <p:nvSpPr>
          <p:cNvPr id="30" name="Shape 28"/>
          <p:cNvSpPr/>
          <p:nvPr/>
        </p:nvSpPr>
        <p:spPr>
          <a:xfrm>
            <a:off x="8046720" y="4343400"/>
            <a:ext cx="3474720" cy="1554480"/>
          </a:xfrm>
          <a:prstGeom prst="roundRect">
            <a:avLst>
              <a:gd name="adj" fmla="val 5882"/>
            </a:avLst>
          </a:prstGeom>
          <a:solidFill>
            <a:srgbClr val="131A2E"/>
          </a:solidFill>
          <a:ln w="12700">
            <a:solidFill>
              <a:srgbClr val="1F2A44"/>
            </a:solidFill>
            <a:prstDash val="solid"/>
          </a:ln>
        </p:spPr>
      </p:sp>
      <p:sp>
        <p:nvSpPr>
          <p:cNvPr id="31" name="Shape 29"/>
          <p:cNvSpPr/>
          <p:nvPr/>
        </p:nvSpPr>
        <p:spPr>
          <a:xfrm>
            <a:off x="8229600" y="4526280"/>
            <a:ext cx="457200" cy="457200"/>
          </a:xfrm>
          <a:prstGeom prst="roundRect">
            <a:avLst>
              <a:gd name="adj" fmla="val 16000"/>
            </a:avLst>
          </a:prstGeom>
          <a:solidFill>
            <a:srgbClr val="6366F1"/>
          </a:solidFill>
          <a:ln w="12700">
            <a:solidFill>
              <a:srgbClr val="6366F1"/>
            </a:solidFill>
            <a:prstDash val="solid"/>
          </a:ln>
        </p:spPr>
      </p:sp>
      <p:sp>
        <p:nvSpPr>
          <p:cNvPr id="32" name="Text 30"/>
          <p:cNvSpPr/>
          <p:nvPr/>
        </p:nvSpPr>
        <p:spPr>
          <a:xfrm>
            <a:off x="8229600" y="4526280"/>
            <a:ext cx="457200" cy="457200"/>
          </a:xfrm>
          <a:prstGeom prst="rect">
            <a:avLst/>
          </a:prstGeom>
          <a:noFill/>
          <a:ln/>
        </p:spPr>
        <p:txBody>
          <a:bodyPr wrap="square" rtlCol="0" anchor="ctr"/>
          <a:lstStyle/>
          <a:p>
            <a:pPr algn="ctr" indent="0" marL="0">
              <a:buNone/>
            </a:pPr>
            <a:r>
              <a:rPr lang="en-US" sz="2000" b="1" dirty="0">
                <a:solidFill>
                  <a:srgbClr val="F1F5F9"/>
                </a:solidFill>
                <a:latin typeface="Calibri" pitchFamily="34" charset="0"/>
                <a:ea typeface="Calibri" pitchFamily="34" charset="-122"/>
                <a:cs typeface="Calibri" pitchFamily="34" charset="-120"/>
              </a:rPr>
              <a:t>6</a:t>
            </a:r>
            <a:endParaRPr lang="en-US" sz="2000" dirty="0"/>
          </a:p>
        </p:txBody>
      </p:sp>
      <p:sp>
        <p:nvSpPr>
          <p:cNvPr id="33" name="Text 31"/>
          <p:cNvSpPr/>
          <p:nvPr/>
        </p:nvSpPr>
        <p:spPr>
          <a:xfrm>
            <a:off x="8823960" y="4544568"/>
            <a:ext cx="2743200" cy="41148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Executive PDF</a:t>
            </a:r>
            <a:endParaRPr lang="en-US" sz="1600" dirty="0"/>
          </a:p>
        </p:txBody>
      </p:sp>
      <p:sp>
        <p:nvSpPr>
          <p:cNvPr id="34" name="Text 32"/>
          <p:cNvSpPr/>
          <p:nvPr/>
        </p:nvSpPr>
        <p:spPr>
          <a:xfrm>
            <a:off x="8823960" y="4983480"/>
            <a:ext cx="2743200" cy="82296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Ranked recommendations with peer citations. Hand to a CFO.</a:t>
            </a:r>
            <a:endParaRPr lang="en-US" sz="1100" dirty="0"/>
          </a:p>
        </p:txBody>
      </p:sp>
      <p:sp>
        <p:nvSpPr>
          <p:cNvPr id="35" name="Text 33"/>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36" name="Text 34"/>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12</a:t>
            </a:r>
            <a:endParaRPr lang="en-US" sz="1000" dirty="0"/>
          </a:p>
        </p:txBody>
      </p:sp>
      <p:sp>
        <p:nvSpPr>
          <p:cNvPr id="37" name="Shape 35"/>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Every number has a derivation. The math reconciles.</a:t>
            </a:r>
            <a:endParaRPr lang="en-US" sz="2800" dirty="0"/>
          </a:p>
        </p:txBody>
      </p:sp>
      <p:sp>
        <p:nvSpPr>
          <p:cNvPr id="5" name="Shape 3"/>
          <p:cNvSpPr/>
          <p:nvPr/>
        </p:nvSpPr>
        <p:spPr>
          <a:xfrm>
            <a:off x="731520" y="1737360"/>
            <a:ext cx="5303520" cy="4754880"/>
          </a:xfrm>
          <a:prstGeom prst="roundRect">
            <a:avLst>
              <a:gd name="adj" fmla="val 2308"/>
            </a:avLst>
          </a:prstGeom>
          <a:solidFill>
            <a:srgbClr val="131A2E"/>
          </a:solidFill>
          <a:ln w="12700">
            <a:solidFill>
              <a:srgbClr val="1F2A44"/>
            </a:solidFill>
            <a:prstDash val="solid"/>
          </a:ln>
        </p:spPr>
      </p:sp>
      <p:sp>
        <p:nvSpPr>
          <p:cNvPr id="6" name="Text 4"/>
          <p:cNvSpPr/>
          <p:nvPr/>
        </p:nvSpPr>
        <p:spPr>
          <a:xfrm>
            <a:off x="914400" y="1920240"/>
            <a:ext cx="4937760" cy="45720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Cash-flow consistent NPV / ROI / Payback</a:t>
            </a:r>
            <a:endParaRPr lang="en-US" sz="1600" dirty="0"/>
          </a:p>
        </p:txBody>
      </p:sp>
      <p:sp>
        <p:nvSpPr>
          <p:cNvPr id="7" name="Shape 5"/>
          <p:cNvSpPr/>
          <p:nvPr/>
        </p:nvSpPr>
        <p:spPr>
          <a:xfrm>
            <a:off x="914400" y="2468880"/>
            <a:ext cx="4937760" cy="914400"/>
          </a:xfrm>
          <a:prstGeom prst="rect">
            <a:avLst/>
          </a:prstGeom>
          <a:solidFill>
            <a:srgbClr val="060912"/>
          </a:solidFill>
          <a:ln w="12700">
            <a:solidFill>
              <a:srgbClr val="1F2A44"/>
            </a:solidFill>
            <a:prstDash val="solid"/>
          </a:ln>
        </p:spPr>
      </p:sp>
      <p:sp>
        <p:nvSpPr>
          <p:cNvPr id="8" name="Text 6"/>
          <p:cNvSpPr/>
          <p:nvPr/>
        </p:nvSpPr>
        <p:spPr>
          <a:xfrm>
            <a:off x="1005840" y="2606040"/>
            <a:ext cx="4754880" cy="365760"/>
          </a:xfrm>
          <a:prstGeom prst="rect">
            <a:avLst/>
          </a:prstGeom>
          <a:noFill/>
          <a:ln/>
        </p:spPr>
        <p:txBody>
          <a:bodyPr wrap="square" rtlCol="0" anchor="ctr"/>
          <a:lstStyle/>
          <a:p>
            <a:pPr indent="0" marL="0">
              <a:buNone/>
            </a:pPr>
            <a:r>
              <a:rPr lang="en-US" sz="1400" dirty="0">
                <a:solidFill>
                  <a:srgbClr val="22D3EE"/>
                </a:solidFill>
                <a:latin typeface="Consolas" pitchFamily="34" charset="0"/>
                <a:ea typeface="Consolas" pitchFamily="34" charset="-122"/>
                <a:cs typeface="Consolas" pitchFamily="34" charset="-120"/>
              </a:rPr>
              <a:t>NPV = −Capex + Σ (benefit_y · adoption_y) / (1+r)^y</a:t>
            </a:r>
            <a:endParaRPr lang="en-US" sz="1400" dirty="0"/>
          </a:p>
        </p:txBody>
      </p:sp>
      <p:sp>
        <p:nvSpPr>
          <p:cNvPr id="9" name="Text 7"/>
          <p:cNvSpPr/>
          <p:nvPr/>
        </p:nvSpPr>
        <p:spPr>
          <a:xfrm>
            <a:off x="1005840" y="2971800"/>
            <a:ext cx="4754880" cy="4114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ROI = NPV / actual_investment</a:t>
            </a:r>
            <a:endParaRPr lang="en-US" sz="1200" dirty="0"/>
          </a:p>
          <a:p>
            <a:pPr indent="0" marL="0">
              <a:buNone/>
            </a:pPr>
            <a:r>
              <a:rPr lang="en-US" sz="1200" dirty="0">
                <a:solidFill>
                  <a:srgbClr val="CBD5E1"/>
                </a:solidFill>
                <a:latin typeface="Consolas" pitchFamily="34" charset="0"/>
                <a:ea typeface="Consolas" pitchFamily="34" charset="-122"/>
                <a:cs typeface="Consolas" pitchFamily="34" charset="-120"/>
              </a:rPr>
              <a:t>Payback = first year cumulative CF &gt; 0</a:t>
            </a:r>
            <a:endParaRPr lang="en-US" sz="1200" dirty="0"/>
          </a:p>
        </p:txBody>
      </p:sp>
      <p:sp>
        <p:nvSpPr>
          <p:cNvPr id="10" name="Text 8"/>
          <p:cNvSpPr/>
          <p:nvPr/>
        </p:nvSpPr>
        <p:spPr>
          <a:xfrm>
            <a:off x="914400" y="3657600"/>
            <a:ext cx="4937760" cy="2743200"/>
          </a:xfrm>
          <a:prstGeom prst="rect">
            <a:avLst/>
          </a:prstGeom>
          <a:noFill/>
          <a:ln/>
        </p:spPr>
        <p:txBody>
          <a:bodyPr wrap="square" rtlCol="0" anchor="ctr"/>
          <a:lstStyle/>
          <a:p>
            <a:pPr indent="0" marL="0">
              <a:spcAft>
                <a:spcPts val="500"/>
              </a:spcAft>
              <a:buNone/>
            </a:pPr>
            <a:r>
              <a:rPr lang="en-US" sz="1300" dirty="0">
                <a:solidFill>
                  <a:srgbClr val="CBD5E1"/>
                </a:solidFill>
                <a:latin typeface="Calibri" pitchFamily="34" charset="0"/>
                <a:ea typeface="Calibri" pitchFamily="34" charset="-122"/>
                <a:cs typeface="Calibri" pitchFamily="34" charset="-120"/>
              </a:rPr>
              <a:t>• Capex in year 0</a:t>
            </a:r>
            <a:endParaRPr lang="en-US" sz="1300" dirty="0"/>
          </a:p>
          <a:p>
            <a:pPr indent="0" marL="0">
              <a:spcAft>
                <a:spcPts val="500"/>
              </a:spcAft>
              <a:buNone/>
            </a:pPr>
            <a:r>
              <a:rPr lang="en-US" sz="1300" dirty="0">
                <a:solidFill>
                  <a:srgbClr val="CBD5E1"/>
                </a:solidFill>
                <a:latin typeface="Calibri" pitchFamily="34" charset="0"/>
                <a:ea typeface="Calibri" pitchFamily="34" charset="-122"/>
                <a:cs typeface="Calibri" pitchFamily="34" charset="-120"/>
              </a:rPr>
              <a:t>• Benefits begin after the implementation period</a:t>
            </a:r>
            <a:endParaRPr lang="en-US" sz="1300" dirty="0"/>
          </a:p>
          <a:p>
            <a:pPr indent="0" marL="0">
              <a:spcAft>
                <a:spcPts val="500"/>
              </a:spcAft>
              <a:buNone/>
            </a:pPr>
            <a:r>
              <a:rPr lang="en-US" sz="1300" dirty="0">
                <a:solidFill>
                  <a:srgbClr val="CBD5E1"/>
                </a:solidFill>
                <a:latin typeface="Calibri" pitchFamily="34" charset="0"/>
                <a:ea typeface="Calibri" pitchFamily="34" charset="-122"/>
                <a:cs typeface="Calibri" pitchFamily="34" charset="-120"/>
              </a:rPr>
              <a:t>• Adoption ramps 40% / 70% / 95% / 100% / 100%</a:t>
            </a:r>
            <a:endParaRPr lang="en-US" sz="1300" dirty="0"/>
          </a:p>
          <a:p>
            <a:pPr indent="0" marL="0">
              <a:spcAft>
                <a:spcPts val="500"/>
              </a:spcAft>
              <a:buNone/>
            </a:pPr>
            <a:r>
              <a:rPr lang="en-US" sz="1300" dirty="0">
                <a:solidFill>
                  <a:srgbClr val="CBD5E1"/>
                </a:solidFill>
                <a:latin typeface="Calibri" pitchFamily="34" charset="0"/>
                <a:ea typeface="Calibri" pitchFamily="34" charset="-122"/>
                <a:cs typeface="Calibri" pitchFamily="34" charset="-120"/>
              </a:rPr>
              <a:t>• 5-year NPV at WACC (default 12%)</a:t>
            </a:r>
            <a:endParaRPr lang="en-US" sz="1300" dirty="0"/>
          </a:p>
          <a:p>
            <a:pPr indent="0" marL="0">
              <a:spcAft>
                <a:spcPts val="500"/>
              </a:spcAft>
              <a:buNone/>
            </a:pPr>
            <a:r>
              <a:rPr lang="en-US" sz="1300" dirty="0">
                <a:solidFill>
                  <a:srgbClr val="CBD5E1"/>
                </a:solidFill>
                <a:latin typeface="Calibri" pitchFamily="34" charset="0"/>
                <a:ea typeface="Calibri" pitchFamily="34" charset="-122"/>
                <a:cs typeface="Calibri" pitchFamily="34" charset="-120"/>
              </a:rPr>
              <a:t>• All three metrics derived from the SAME cash-flow path — they always reconcile.</a:t>
            </a:r>
            <a:endParaRPr lang="en-US" sz="1300" dirty="0"/>
          </a:p>
        </p:txBody>
      </p:sp>
      <p:sp>
        <p:nvSpPr>
          <p:cNvPr id="11" name="Shape 9"/>
          <p:cNvSpPr/>
          <p:nvPr/>
        </p:nvSpPr>
        <p:spPr>
          <a:xfrm>
            <a:off x="6400800" y="1737360"/>
            <a:ext cx="5303520" cy="4754880"/>
          </a:xfrm>
          <a:prstGeom prst="roundRect">
            <a:avLst>
              <a:gd name="adj" fmla="val 2308"/>
            </a:avLst>
          </a:prstGeom>
          <a:solidFill>
            <a:srgbClr val="131A2E"/>
          </a:solidFill>
          <a:ln w="12700">
            <a:solidFill>
              <a:srgbClr val="1F2A44"/>
            </a:solidFill>
            <a:prstDash val="solid"/>
          </a:ln>
        </p:spPr>
      </p:sp>
      <p:sp>
        <p:nvSpPr>
          <p:cNvPr id="12" name="Text 10"/>
          <p:cNvSpPr/>
          <p:nvPr/>
        </p:nvSpPr>
        <p:spPr>
          <a:xfrm>
            <a:off x="6583680" y="1920240"/>
            <a:ext cx="4937760" cy="45720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Per-iteration risk shocks (calibrated empirics)</a:t>
            </a:r>
            <a:endParaRPr lang="en-US" sz="1600" dirty="0"/>
          </a:p>
        </p:txBody>
      </p:sp>
      <p:sp>
        <p:nvSpPr>
          <p:cNvPr id="13" name="Text 11"/>
          <p:cNvSpPr/>
          <p:nvPr/>
        </p:nvSpPr>
        <p:spPr>
          <a:xfrm>
            <a:off x="6583680" y="256032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Execution failure (per-scenario, from rail peer empirics)</a:t>
            </a:r>
            <a:endParaRPr lang="en-US" sz="1200" dirty="0"/>
          </a:p>
        </p:txBody>
      </p:sp>
      <p:sp>
        <p:nvSpPr>
          <p:cNvPr id="14" name="Text 12"/>
          <p:cNvSpPr/>
          <p:nvPr/>
        </p:nvSpPr>
        <p:spPr>
          <a:xfrm>
            <a:off x="10607040" y="256032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5 — 35%</a:t>
            </a:r>
            <a:endParaRPr lang="en-US" sz="1200" dirty="0"/>
          </a:p>
        </p:txBody>
      </p:sp>
      <p:sp>
        <p:nvSpPr>
          <p:cNvPr id="15" name="Shape 13"/>
          <p:cNvSpPr/>
          <p:nvPr/>
        </p:nvSpPr>
        <p:spPr>
          <a:xfrm>
            <a:off x="6583680" y="2926080"/>
            <a:ext cx="4937760" cy="0"/>
          </a:xfrm>
          <a:prstGeom prst="line">
            <a:avLst/>
          </a:prstGeom>
          <a:noFill/>
          <a:ln w="6350">
            <a:solidFill>
              <a:srgbClr val="1F2A44"/>
            </a:solidFill>
            <a:prstDash val="solid"/>
          </a:ln>
        </p:spPr>
      </p:sp>
      <p:sp>
        <p:nvSpPr>
          <p:cNvPr id="16" name="Text 14"/>
          <p:cNvSpPr/>
          <p:nvPr/>
        </p:nvSpPr>
        <p:spPr>
          <a:xfrm>
            <a:off x="6583680" y="297180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Market / commodity downturn</a:t>
            </a:r>
            <a:endParaRPr lang="en-US" sz="1200" dirty="0"/>
          </a:p>
        </p:txBody>
      </p:sp>
      <p:sp>
        <p:nvSpPr>
          <p:cNvPr id="17" name="Text 15"/>
          <p:cNvSpPr/>
          <p:nvPr/>
        </p:nvSpPr>
        <p:spPr>
          <a:xfrm>
            <a:off x="10607040" y="297180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8%</a:t>
            </a:r>
            <a:endParaRPr lang="en-US" sz="1200" dirty="0"/>
          </a:p>
        </p:txBody>
      </p:sp>
      <p:sp>
        <p:nvSpPr>
          <p:cNvPr id="18" name="Shape 16"/>
          <p:cNvSpPr/>
          <p:nvPr/>
        </p:nvSpPr>
        <p:spPr>
          <a:xfrm>
            <a:off x="6583680" y="3337560"/>
            <a:ext cx="4937760" cy="0"/>
          </a:xfrm>
          <a:prstGeom prst="line">
            <a:avLst/>
          </a:prstGeom>
          <a:noFill/>
          <a:ln w="6350">
            <a:solidFill>
              <a:srgbClr val="1F2A44"/>
            </a:solidFill>
            <a:prstDash val="solid"/>
          </a:ln>
        </p:spPr>
      </p:sp>
      <p:sp>
        <p:nvSpPr>
          <p:cNvPr id="19" name="Text 17"/>
          <p:cNvSpPr/>
          <p:nvPr/>
        </p:nvSpPr>
        <p:spPr>
          <a:xfrm>
            <a:off x="6583680" y="338328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Cross-border / geopolitical shock</a:t>
            </a:r>
            <a:endParaRPr lang="en-US" sz="1200" dirty="0"/>
          </a:p>
        </p:txBody>
      </p:sp>
      <p:sp>
        <p:nvSpPr>
          <p:cNvPr id="20" name="Text 18"/>
          <p:cNvSpPr/>
          <p:nvPr/>
        </p:nvSpPr>
        <p:spPr>
          <a:xfrm>
            <a:off x="10607040" y="338328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12%</a:t>
            </a:r>
            <a:endParaRPr lang="en-US" sz="1200" dirty="0"/>
          </a:p>
        </p:txBody>
      </p:sp>
      <p:sp>
        <p:nvSpPr>
          <p:cNvPr id="21" name="Shape 19"/>
          <p:cNvSpPr/>
          <p:nvPr/>
        </p:nvSpPr>
        <p:spPr>
          <a:xfrm>
            <a:off x="6583680" y="3749040"/>
            <a:ext cx="4937760" cy="0"/>
          </a:xfrm>
          <a:prstGeom prst="line">
            <a:avLst/>
          </a:prstGeom>
          <a:noFill/>
          <a:ln w="6350">
            <a:solidFill>
              <a:srgbClr val="1F2A44"/>
            </a:solidFill>
            <a:prstDash val="solid"/>
          </a:ln>
        </p:spPr>
      </p:sp>
      <p:sp>
        <p:nvSpPr>
          <p:cNvPr id="22" name="Text 20"/>
          <p:cNvSpPr/>
          <p:nvPr/>
        </p:nvSpPr>
        <p:spPr>
          <a:xfrm>
            <a:off x="6583680" y="379476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Cost overrun</a:t>
            </a:r>
            <a:endParaRPr lang="en-US" sz="1200" dirty="0"/>
          </a:p>
        </p:txBody>
      </p:sp>
      <p:sp>
        <p:nvSpPr>
          <p:cNvPr id="23" name="Text 21"/>
          <p:cNvSpPr/>
          <p:nvPr/>
        </p:nvSpPr>
        <p:spPr>
          <a:xfrm>
            <a:off x="10607040" y="379476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+10 — 50%</a:t>
            </a:r>
            <a:endParaRPr lang="en-US" sz="1200" dirty="0"/>
          </a:p>
        </p:txBody>
      </p:sp>
      <p:sp>
        <p:nvSpPr>
          <p:cNvPr id="24" name="Shape 22"/>
          <p:cNvSpPr/>
          <p:nvPr/>
        </p:nvSpPr>
        <p:spPr>
          <a:xfrm>
            <a:off x="6583680" y="4160520"/>
            <a:ext cx="4937760" cy="0"/>
          </a:xfrm>
          <a:prstGeom prst="line">
            <a:avLst/>
          </a:prstGeom>
          <a:noFill/>
          <a:ln w="6350">
            <a:solidFill>
              <a:srgbClr val="1F2A44"/>
            </a:solidFill>
            <a:prstDash val="solid"/>
          </a:ln>
        </p:spPr>
      </p:sp>
      <p:sp>
        <p:nvSpPr>
          <p:cNvPr id="25" name="Text 23"/>
          <p:cNvSpPr/>
          <p:nvPr/>
        </p:nvSpPr>
        <p:spPr>
          <a:xfrm>
            <a:off x="6583680" y="420624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Implementation delay</a:t>
            </a:r>
            <a:endParaRPr lang="en-US" sz="1200" dirty="0"/>
          </a:p>
        </p:txBody>
      </p:sp>
      <p:sp>
        <p:nvSpPr>
          <p:cNvPr id="26" name="Text 24"/>
          <p:cNvSpPr/>
          <p:nvPr/>
        </p:nvSpPr>
        <p:spPr>
          <a:xfrm>
            <a:off x="10607040" y="420624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+20 — 80%</a:t>
            </a:r>
            <a:endParaRPr lang="en-US" sz="1200" dirty="0"/>
          </a:p>
        </p:txBody>
      </p:sp>
      <p:sp>
        <p:nvSpPr>
          <p:cNvPr id="27" name="Shape 25"/>
          <p:cNvSpPr/>
          <p:nvPr/>
        </p:nvSpPr>
        <p:spPr>
          <a:xfrm>
            <a:off x="6583680" y="4572000"/>
            <a:ext cx="4937760" cy="0"/>
          </a:xfrm>
          <a:prstGeom prst="line">
            <a:avLst/>
          </a:prstGeom>
          <a:noFill/>
          <a:ln w="6350">
            <a:solidFill>
              <a:srgbClr val="1F2A44"/>
            </a:solidFill>
            <a:prstDash val="solid"/>
          </a:ln>
        </p:spPr>
      </p:sp>
      <p:sp>
        <p:nvSpPr>
          <p:cNvPr id="28" name="Text 26"/>
          <p:cNvSpPr/>
          <p:nvPr/>
        </p:nvSpPr>
        <p:spPr>
          <a:xfrm>
            <a:off x="6583680" y="461772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Winter severity, seasonal</a:t>
            </a:r>
            <a:endParaRPr lang="en-US" sz="1200" dirty="0"/>
          </a:p>
        </p:txBody>
      </p:sp>
      <p:sp>
        <p:nvSpPr>
          <p:cNvPr id="29" name="Text 27"/>
          <p:cNvSpPr/>
          <p:nvPr/>
        </p:nvSpPr>
        <p:spPr>
          <a:xfrm>
            <a:off x="10607040" y="461772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2.5% / month</a:t>
            </a:r>
            <a:endParaRPr lang="en-US" sz="1200" dirty="0"/>
          </a:p>
        </p:txBody>
      </p:sp>
      <p:sp>
        <p:nvSpPr>
          <p:cNvPr id="30" name="Shape 28"/>
          <p:cNvSpPr/>
          <p:nvPr/>
        </p:nvSpPr>
        <p:spPr>
          <a:xfrm>
            <a:off x="6583680" y="4983480"/>
            <a:ext cx="4937760" cy="0"/>
          </a:xfrm>
          <a:prstGeom prst="line">
            <a:avLst/>
          </a:prstGeom>
          <a:noFill/>
          <a:ln w="6350">
            <a:solidFill>
              <a:srgbClr val="1F2A44"/>
            </a:solidFill>
            <a:prstDash val="solid"/>
          </a:ln>
        </p:spPr>
      </p:sp>
      <p:sp>
        <p:nvSpPr>
          <p:cNvPr id="31" name="Text 29"/>
          <p:cNvSpPr/>
          <p:nvPr/>
        </p:nvSpPr>
        <p:spPr>
          <a:xfrm>
            <a:off x="6583680" y="502920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Tariff regulator action</a:t>
            </a:r>
            <a:endParaRPr lang="en-US" sz="1200" dirty="0"/>
          </a:p>
        </p:txBody>
      </p:sp>
      <p:sp>
        <p:nvSpPr>
          <p:cNvPr id="32" name="Text 30"/>
          <p:cNvSpPr/>
          <p:nvPr/>
        </p:nvSpPr>
        <p:spPr>
          <a:xfrm>
            <a:off x="10607040" y="502920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0.6% / month</a:t>
            </a:r>
            <a:endParaRPr lang="en-US" sz="1200" dirty="0"/>
          </a:p>
        </p:txBody>
      </p:sp>
      <p:sp>
        <p:nvSpPr>
          <p:cNvPr id="33" name="Shape 31"/>
          <p:cNvSpPr/>
          <p:nvPr/>
        </p:nvSpPr>
        <p:spPr>
          <a:xfrm>
            <a:off x="6583680" y="5394960"/>
            <a:ext cx="4937760" cy="0"/>
          </a:xfrm>
          <a:prstGeom prst="line">
            <a:avLst/>
          </a:prstGeom>
          <a:noFill/>
          <a:ln w="6350">
            <a:solidFill>
              <a:srgbClr val="1F2A44"/>
            </a:solidFill>
            <a:prstDash val="solid"/>
          </a:ln>
        </p:spPr>
      </p:sp>
      <p:sp>
        <p:nvSpPr>
          <p:cNvPr id="34" name="Text 32"/>
          <p:cNvSpPr/>
          <p:nvPr/>
        </p:nvSpPr>
        <p:spPr>
          <a:xfrm>
            <a:off x="6583680" y="5440680"/>
            <a:ext cx="393192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KMG-style customer renegotiation</a:t>
            </a:r>
            <a:endParaRPr lang="en-US" sz="1200" dirty="0"/>
          </a:p>
        </p:txBody>
      </p:sp>
      <p:sp>
        <p:nvSpPr>
          <p:cNvPr id="35" name="Text 33"/>
          <p:cNvSpPr/>
          <p:nvPr/>
        </p:nvSpPr>
        <p:spPr>
          <a:xfrm>
            <a:off x="10607040" y="5440680"/>
            <a:ext cx="1188720" cy="365760"/>
          </a:xfrm>
          <a:prstGeom prst="rect">
            <a:avLst/>
          </a:prstGeom>
          <a:noFill/>
          <a:ln/>
        </p:spPr>
        <p:txBody>
          <a:bodyPr wrap="square" rtlCol="0" anchor="ctr"/>
          <a:lstStyle/>
          <a:p>
            <a:pPr algn="r" indent="0" marL="0">
              <a:buNone/>
            </a:pPr>
            <a:r>
              <a:rPr lang="en-US" sz="1200" b="1" dirty="0">
                <a:solidFill>
                  <a:srgbClr val="FBBF24"/>
                </a:solidFill>
                <a:latin typeface="Consolas" pitchFamily="34" charset="0"/>
                <a:ea typeface="Consolas" pitchFamily="34" charset="-122"/>
                <a:cs typeface="Consolas" pitchFamily="34" charset="-120"/>
              </a:rPr>
              <a:t>0.8% / month</a:t>
            </a:r>
            <a:endParaRPr lang="en-US" sz="1200" dirty="0"/>
          </a:p>
        </p:txBody>
      </p:sp>
      <p:sp>
        <p:nvSpPr>
          <p:cNvPr id="36" name="Shape 34"/>
          <p:cNvSpPr/>
          <p:nvPr/>
        </p:nvSpPr>
        <p:spPr>
          <a:xfrm>
            <a:off x="6583680" y="5806440"/>
            <a:ext cx="4937760" cy="0"/>
          </a:xfrm>
          <a:prstGeom prst="line">
            <a:avLst/>
          </a:prstGeom>
          <a:noFill/>
          <a:ln w="6350">
            <a:solidFill>
              <a:srgbClr val="1F2A44"/>
            </a:solidFill>
            <a:prstDash val="solid"/>
          </a:ln>
        </p:spPr>
      </p:sp>
      <p:sp>
        <p:nvSpPr>
          <p:cNvPr id="37" name="Text 35"/>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38" name="Text 36"/>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12</a:t>
            </a:r>
            <a:endParaRPr lang="en-US" sz="1000" dirty="0"/>
          </a:p>
        </p:txBody>
      </p:sp>
      <p:sp>
        <p:nvSpPr>
          <p:cNvPr id="39" name="Shape 37"/>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LIVE DEMO</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KTZ assessment in 60 seconds</a:t>
            </a:r>
            <a:endParaRPr lang="en-US" sz="2800" dirty="0"/>
          </a:p>
        </p:txBody>
      </p:sp>
      <p:sp>
        <p:nvSpPr>
          <p:cNvPr id="5" name="Shape 3"/>
          <p:cNvSpPr/>
          <p:nvPr/>
        </p:nvSpPr>
        <p:spPr>
          <a:xfrm>
            <a:off x="731520" y="1828800"/>
            <a:ext cx="10972800" cy="1188720"/>
          </a:xfrm>
          <a:prstGeom prst="roundRect">
            <a:avLst>
              <a:gd name="adj" fmla="val 7692"/>
            </a:avLst>
          </a:prstGeom>
          <a:solidFill>
            <a:srgbClr val="131A2E"/>
          </a:solidFill>
          <a:ln w="12700">
            <a:solidFill>
              <a:srgbClr val="1F2A44"/>
            </a:solidFill>
            <a:prstDash val="solid"/>
          </a:ln>
        </p:spPr>
      </p:sp>
      <p:sp>
        <p:nvSpPr>
          <p:cNvPr id="6" name="Text 4"/>
          <p:cNvSpPr/>
          <p:nvPr/>
        </p:nvSpPr>
        <p:spPr>
          <a:xfrm>
            <a:off x="914400" y="1920240"/>
            <a:ext cx="10607040" cy="365760"/>
          </a:xfrm>
          <a:prstGeom prst="rect">
            <a:avLst/>
          </a:prstGeom>
          <a:noFill/>
          <a:ln/>
        </p:spPr>
        <p:txBody>
          <a:bodyPr wrap="square" rtlCol="0" anchor="ctr"/>
          <a:lstStyle/>
          <a:p>
            <a:pPr indent="0" marL="0">
              <a:buNone/>
            </a:pPr>
            <a:r>
              <a:rPr lang="en-US" sz="1300" b="1" dirty="0">
                <a:solidFill>
                  <a:srgbClr val="F1F5F9"/>
                </a:solidFill>
                <a:latin typeface="Calibri" pitchFamily="34" charset="0"/>
                <a:ea typeface="Calibri" pitchFamily="34" charset="-122"/>
                <a:cs typeface="Calibri" pitchFamily="34" charset="-120"/>
              </a:rPr>
              <a:t>KAZAKHSTAN TEMIR ZHOLY (KTZ)   ·   $5.5B revenue   ·   130,000 employees   ·   5 segments</a:t>
            </a:r>
            <a:endParaRPr lang="en-US" sz="1300" dirty="0"/>
          </a:p>
        </p:txBody>
      </p:sp>
      <p:sp>
        <p:nvSpPr>
          <p:cNvPr id="7" name="Shape 5"/>
          <p:cNvSpPr/>
          <p:nvPr/>
        </p:nvSpPr>
        <p:spPr>
          <a:xfrm>
            <a:off x="914400" y="2377440"/>
            <a:ext cx="5303520" cy="457200"/>
          </a:xfrm>
          <a:prstGeom prst="roundRect">
            <a:avLst>
              <a:gd name="adj" fmla="val 10000"/>
            </a:avLst>
          </a:prstGeom>
          <a:solidFill>
            <a:srgbClr val="F87171">
              <a:alpha val="20000"/>
            </a:srgbClr>
          </a:solidFill>
          <a:ln w="12700">
            <a:solidFill>
              <a:srgbClr val="F87171">
                <a:alpha val="50000"/>
              </a:srgbClr>
            </a:solidFill>
            <a:prstDash val="solid"/>
          </a:ln>
        </p:spPr>
      </p:sp>
      <p:sp>
        <p:nvSpPr>
          <p:cNvPr id="8" name="Text 6"/>
          <p:cNvSpPr/>
          <p:nvPr/>
        </p:nvSpPr>
        <p:spPr>
          <a:xfrm>
            <a:off x="960120" y="2377440"/>
            <a:ext cx="5212080" cy="457200"/>
          </a:xfrm>
          <a:prstGeom prst="rect">
            <a:avLst/>
          </a:prstGeom>
          <a:noFill/>
          <a:ln/>
        </p:spPr>
        <p:txBody>
          <a:bodyPr wrap="square" rtlCol="0" anchor="ctr"/>
          <a:lstStyle/>
          <a:p>
            <a:pPr indent="0" marL="0">
              <a:buNone/>
            </a:pPr>
            <a:r>
              <a:rPr lang="en-US" sz="1100" dirty="0">
                <a:solidFill>
                  <a:srgbClr val="FBBF24"/>
                </a:solidFill>
                <a:latin typeface="Calibri" pitchFamily="34" charset="0"/>
                <a:ea typeface="Calibri" pitchFamily="34" charset="-122"/>
                <a:cs typeface="Calibri" pitchFamily="34" charset="-120"/>
              </a:rPr>
              <a:t>⚠ 2020 digital booking pilot FAILED — similar scenarios flagged</a:t>
            </a:r>
            <a:endParaRPr lang="en-US" sz="1100" dirty="0"/>
          </a:p>
        </p:txBody>
      </p:sp>
      <p:sp>
        <p:nvSpPr>
          <p:cNvPr id="9" name="Text 7"/>
          <p:cNvSpPr/>
          <p:nvPr/>
        </p:nvSpPr>
        <p:spPr>
          <a:xfrm>
            <a:off x="6400800" y="2377440"/>
            <a:ext cx="3200400" cy="457200"/>
          </a:xfrm>
          <a:prstGeom prst="rect">
            <a:avLst/>
          </a:prstGeom>
          <a:noFill/>
          <a:ln/>
        </p:spPr>
        <p:txBody>
          <a:bodyPr wrap="square"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Scenarios matching filters: </a:t>
            </a:r>
            <a:endParaRPr lang="en-US" sz="1100" dirty="0"/>
          </a:p>
        </p:txBody>
      </p:sp>
      <p:sp>
        <p:nvSpPr>
          <p:cNvPr id="10" name="Text 8"/>
          <p:cNvSpPr/>
          <p:nvPr/>
        </p:nvSpPr>
        <p:spPr>
          <a:xfrm>
            <a:off x="9601200" y="2377440"/>
            <a:ext cx="1097280" cy="457200"/>
          </a:xfrm>
          <a:prstGeom prst="rect">
            <a:avLst/>
          </a:prstGeom>
          <a:noFill/>
          <a:ln/>
        </p:spPr>
        <p:txBody>
          <a:bodyPr wrap="square" rtlCol="0" anchor="ctr"/>
          <a:lstStyle/>
          <a:p>
            <a:pPr indent="0" marL="0">
              <a:buNone/>
            </a:pPr>
            <a:r>
              <a:rPr lang="en-US" sz="1600" b="1" dirty="0">
                <a:solidFill>
                  <a:srgbClr val="22D3EE"/>
                </a:solidFill>
                <a:latin typeface="Consolas" pitchFamily="34" charset="0"/>
                <a:ea typeface="Consolas" pitchFamily="34" charset="-122"/>
                <a:cs typeface="Consolas" pitchFamily="34" charset="-120"/>
              </a:rPr>
              <a:t>40 of 40</a:t>
            </a:r>
            <a:endParaRPr lang="en-US" sz="1600" dirty="0"/>
          </a:p>
        </p:txBody>
      </p:sp>
      <p:sp>
        <p:nvSpPr>
          <p:cNvPr id="11" name="Shape 9"/>
          <p:cNvSpPr/>
          <p:nvPr/>
        </p:nvSpPr>
        <p:spPr>
          <a:xfrm>
            <a:off x="731520" y="3291840"/>
            <a:ext cx="10972800" cy="960120"/>
          </a:xfrm>
          <a:prstGeom prst="roundRect">
            <a:avLst>
              <a:gd name="adj" fmla="val 7619"/>
            </a:avLst>
          </a:prstGeom>
          <a:solidFill>
            <a:srgbClr val="131A2E"/>
          </a:solidFill>
          <a:ln w="12700">
            <a:solidFill>
              <a:srgbClr val="1F2A44"/>
            </a:solidFill>
            <a:prstDash val="solid"/>
          </a:ln>
        </p:spPr>
      </p:sp>
      <p:sp>
        <p:nvSpPr>
          <p:cNvPr id="12" name="Text 10"/>
          <p:cNvSpPr/>
          <p:nvPr/>
        </p:nvSpPr>
        <p:spPr>
          <a:xfrm>
            <a:off x="914400" y="3383280"/>
            <a:ext cx="457200" cy="548640"/>
          </a:xfrm>
          <a:prstGeom prst="rect">
            <a:avLst/>
          </a:prstGeom>
          <a:noFill/>
          <a:ln/>
        </p:spPr>
        <p:txBody>
          <a:bodyPr wrap="square" rtlCol="0" anchor="ctr"/>
          <a:lstStyle/>
          <a:p>
            <a:pPr indent="0" marL="0">
              <a:buNone/>
            </a:pPr>
            <a:r>
              <a:rPr lang="en-US" sz="2200" b="1" dirty="0">
                <a:solidFill>
                  <a:srgbClr val="818CF8"/>
                </a:solidFill>
                <a:latin typeface="Calibri" pitchFamily="34" charset="0"/>
                <a:ea typeface="Calibri" pitchFamily="34" charset="-122"/>
                <a:cs typeface="Calibri" pitchFamily="34" charset="-120"/>
              </a:rPr>
              <a:t>#1</a:t>
            </a:r>
            <a:endParaRPr lang="en-US" sz="2200" dirty="0"/>
          </a:p>
        </p:txBody>
      </p:sp>
      <p:sp>
        <p:nvSpPr>
          <p:cNvPr id="13" name="Text 11"/>
          <p:cNvSpPr/>
          <p:nvPr/>
        </p:nvSpPr>
        <p:spPr>
          <a:xfrm>
            <a:off x="1371600" y="3429000"/>
            <a:ext cx="6858000" cy="411480"/>
          </a:xfrm>
          <a:prstGeom prst="rect">
            <a:avLst/>
          </a:prstGeom>
          <a:noFill/>
          <a:ln/>
        </p:spPr>
        <p:txBody>
          <a:bodyPr wrap="square"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Predictive maintenance — Astana hub TE10M / 2TE10M</a:t>
            </a:r>
            <a:endParaRPr lang="en-US" sz="1400" dirty="0"/>
          </a:p>
        </p:txBody>
      </p:sp>
      <p:sp>
        <p:nvSpPr>
          <p:cNvPr id="14" name="Shape 12"/>
          <p:cNvSpPr/>
          <p:nvPr/>
        </p:nvSpPr>
        <p:spPr>
          <a:xfrm>
            <a:off x="8138160" y="3474720"/>
            <a:ext cx="1463040" cy="320040"/>
          </a:xfrm>
          <a:prstGeom prst="roundRect">
            <a:avLst>
              <a:gd name="adj" fmla="val 11429"/>
            </a:avLst>
          </a:prstGeom>
          <a:solidFill>
            <a:srgbClr val="34D399">
              <a:alpha val="20000"/>
            </a:srgbClr>
          </a:solidFill>
          <a:ln w="12700">
            <a:solidFill>
              <a:srgbClr val="34D399">
                <a:alpha val="50000"/>
              </a:srgbClr>
            </a:solidFill>
            <a:prstDash val="solid"/>
          </a:ln>
        </p:spPr>
      </p:sp>
      <p:sp>
        <p:nvSpPr>
          <p:cNvPr id="15" name="Text 13"/>
          <p:cNvSpPr/>
          <p:nvPr/>
        </p:nvSpPr>
        <p:spPr>
          <a:xfrm>
            <a:off x="8138160" y="3474720"/>
            <a:ext cx="1463040" cy="320040"/>
          </a:xfrm>
          <a:prstGeom prst="rect">
            <a:avLst/>
          </a:prstGeom>
          <a:noFill/>
          <a:ln/>
        </p:spPr>
        <p:txBody>
          <a:bodyPr wrap="square" rtlCol="0" anchor="ctr"/>
          <a:lstStyle/>
          <a:p>
            <a:pPr algn="ctr" indent="0" marL="0">
              <a:buNone/>
            </a:pPr>
            <a:r>
              <a:rPr lang="en-US" sz="1000" b="1" dirty="0">
                <a:solidFill>
                  <a:srgbClr val="34D399"/>
                </a:solidFill>
                <a:latin typeface="Calibri" pitchFamily="34" charset="0"/>
                <a:ea typeface="Calibri" pitchFamily="34" charset="-122"/>
                <a:cs typeface="Calibri" pitchFamily="34" charset="-120"/>
              </a:rPr>
              <a:t>STRONG</a:t>
            </a:r>
            <a:endParaRPr lang="en-US" sz="1000" dirty="0"/>
          </a:p>
        </p:txBody>
      </p:sp>
      <p:sp>
        <p:nvSpPr>
          <p:cNvPr id="16" name="Text 14"/>
          <p:cNvSpPr/>
          <p:nvPr/>
        </p:nvSpPr>
        <p:spPr>
          <a:xfrm>
            <a:off x="1371600" y="388620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P(NPV&gt;0)</a:t>
            </a:r>
            <a:endParaRPr lang="en-US" sz="800" dirty="0"/>
          </a:p>
        </p:txBody>
      </p:sp>
      <p:sp>
        <p:nvSpPr>
          <p:cNvPr id="17" name="Text 15"/>
          <p:cNvSpPr/>
          <p:nvPr/>
        </p:nvSpPr>
        <p:spPr>
          <a:xfrm>
            <a:off x="1371600" y="400507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76%</a:t>
            </a:r>
            <a:endParaRPr lang="en-US" sz="1400" dirty="0"/>
          </a:p>
        </p:txBody>
      </p:sp>
      <p:sp>
        <p:nvSpPr>
          <p:cNvPr id="18" name="Text 16"/>
          <p:cNvSpPr/>
          <p:nvPr/>
        </p:nvSpPr>
        <p:spPr>
          <a:xfrm>
            <a:off x="3108960" y="388620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NPV</a:t>
            </a:r>
            <a:endParaRPr lang="en-US" sz="800" dirty="0"/>
          </a:p>
        </p:txBody>
      </p:sp>
      <p:sp>
        <p:nvSpPr>
          <p:cNvPr id="19" name="Text 17"/>
          <p:cNvSpPr/>
          <p:nvPr/>
        </p:nvSpPr>
        <p:spPr>
          <a:xfrm>
            <a:off x="3108960" y="400507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$184M</a:t>
            </a:r>
            <a:endParaRPr lang="en-US" sz="1400" dirty="0"/>
          </a:p>
        </p:txBody>
      </p:sp>
      <p:sp>
        <p:nvSpPr>
          <p:cNvPr id="20" name="Text 18"/>
          <p:cNvSpPr/>
          <p:nvPr/>
        </p:nvSpPr>
        <p:spPr>
          <a:xfrm>
            <a:off x="4846320" y="388620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ROI</a:t>
            </a:r>
            <a:endParaRPr lang="en-US" sz="800" dirty="0"/>
          </a:p>
        </p:txBody>
      </p:sp>
      <p:sp>
        <p:nvSpPr>
          <p:cNvPr id="21" name="Text 19"/>
          <p:cNvSpPr/>
          <p:nvPr/>
        </p:nvSpPr>
        <p:spPr>
          <a:xfrm>
            <a:off x="4846320" y="400507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8.2x</a:t>
            </a:r>
            <a:endParaRPr lang="en-US" sz="1400" dirty="0"/>
          </a:p>
        </p:txBody>
      </p:sp>
      <p:sp>
        <p:nvSpPr>
          <p:cNvPr id="22" name="Text 20"/>
          <p:cNvSpPr/>
          <p:nvPr/>
        </p:nvSpPr>
        <p:spPr>
          <a:xfrm>
            <a:off x="6583680" y="388620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Payback</a:t>
            </a:r>
            <a:endParaRPr lang="en-US" sz="800" dirty="0"/>
          </a:p>
        </p:txBody>
      </p:sp>
      <p:sp>
        <p:nvSpPr>
          <p:cNvPr id="23" name="Text 21"/>
          <p:cNvSpPr/>
          <p:nvPr/>
        </p:nvSpPr>
        <p:spPr>
          <a:xfrm>
            <a:off x="6583680" y="400507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2.1y</a:t>
            </a:r>
            <a:endParaRPr lang="en-US" sz="1400" dirty="0"/>
          </a:p>
        </p:txBody>
      </p:sp>
      <p:sp>
        <p:nvSpPr>
          <p:cNvPr id="24" name="Shape 22"/>
          <p:cNvSpPr/>
          <p:nvPr/>
        </p:nvSpPr>
        <p:spPr>
          <a:xfrm>
            <a:off x="731520" y="4343400"/>
            <a:ext cx="10972800" cy="960120"/>
          </a:xfrm>
          <a:prstGeom prst="roundRect">
            <a:avLst>
              <a:gd name="adj" fmla="val 7619"/>
            </a:avLst>
          </a:prstGeom>
          <a:solidFill>
            <a:srgbClr val="131A2E"/>
          </a:solidFill>
          <a:ln w="12700">
            <a:solidFill>
              <a:srgbClr val="1F2A44"/>
            </a:solidFill>
            <a:prstDash val="solid"/>
          </a:ln>
        </p:spPr>
      </p:sp>
      <p:sp>
        <p:nvSpPr>
          <p:cNvPr id="25" name="Text 23"/>
          <p:cNvSpPr/>
          <p:nvPr/>
        </p:nvSpPr>
        <p:spPr>
          <a:xfrm>
            <a:off x="914400" y="4434840"/>
            <a:ext cx="457200" cy="548640"/>
          </a:xfrm>
          <a:prstGeom prst="rect">
            <a:avLst/>
          </a:prstGeom>
          <a:noFill/>
          <a:ln/>
        </p:spPr>
        <p:txBody>
          <a:bodyPr wrap="square" rtlCol="0" anchor="ctr"/>
          <a:lstStyle/>
          <a:p>
            <a:pPr indent="0" marL="0">
              <a:buNone/>
            </a:pPr>
            <a:r>
              <a:rPr lang="en-US" sz="2200" b="1" dirty="0">
                <a:solidFill>
                  <a:srgbClr val="818CF8"/>
                </a:solidFill>
                <a:latin typeface="Calibri" pitchFamily="34" charset="0"/>
                <a:ea typeface="Calibri" pitchFamily="34" charset="-122"/>
                <a:cs typeface="Calibri" pitchFamily="34" charset="-120"/>
              </a:rPr>
              <a:t>#2</a:t>
            </a:r>
            <a:endParaRPr lang="en-US" sz="2200" dirty="0"/>
          </a:p>
        </p:txBody>
      </p:sp>
      <p:sp>
        <p:nvSpPr>
          <p:cNvPr id="26" name="Text 24"/>
          <p:cNvSpPr/>
          <p:nvPr/>
        </p:nvSpPr>
        <p:spPr>
          <a:xfrm>
            <a:off x="1371600" y="4480560"/>
            <a:ext cx="6858000" cy="411480"/>
          </a:xfrm>
          <a:prstGeom prst="rect">
            <a:avLst/>
          </a:prstGeom>
          <a:noFill/>
          <a:ln/>
        </p:spPr>
        <p:txBody>
          <a:bodyPr wrap="square"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Wheel-rail interface sensors — grain corridor</a:t>
            </a:r>
            <a:endParaRPr lang="en-US" sz="1400" dirty="0"/>
          </a:p>
        </p:txBody>
      </p:sp>
      <p:sp>
        <p:nvSpPr>
          <p:cNvPr id="27" name="Shape 25"/>
          <p:cNvSpPr/>
          <p:nvPr/>
        </p:nvSpPr>
        <p:spPr>
          <a:xfrm>
            <a:off x="8138160" y="4526280"/>
            <a:ext cx="1463040" cy="320040"/>
          </a:xfrm>
          <a:prstGeom prst="roundRect">
            <a:avLst>
              <a:gd name="adj" fmla="val 11429"/>
            </a:avLst>
          </a:prstGeom>
          <a:solidFill>
            <a:srgbClr val="34D399">
              <a:alpha val="20000"/>
            </a:srgbClr>
          </a:solidFill>
          <a:ln w="12700">
            <a:solidFill>
              <a:srgbClr val="34D399">
                <a:alpha val="50000"/>
              </a:srgbClr>
            </a:solidFill>
            <a:prstDash val="solid"/>
          </a:ln>
        </p:spPr>
      </p:sp>
      <p:sp>
        <p:nvSpPr>
          <p:cNvPr id="28" name="Text 26"/>
          <p:cNvSpPr/>
          <p:nvPr/>
        </p:nvSpPr>
        <p:spPr>
          <a:xfrm>
            <a:off x="8138160" y="4526280"/>
            <a:ext cx="1463040" cy="320040"/>
          </a:xfrm>
          <a:prstGeom prst="rect">
            <a:avLst/>
          </a:prstGeom>
          <a:noFill/>
          <a:ln/>
        </p:spPr>
        <p:txBody>
          <a:bodyPr wrap="square" rtlCol="0" anchor="ctr"/>
          <a:lstStyle/>
          <a:p>
            <a:pPr algn="ctr" indent="0" marL="0">
              <a:buNone/>
            </a:pPr>
            <a:r>
              <a:rPr lang="en-US" sz="1000" b="1" dirty="0">
                <a:solidFill>
                  <a:srgbClr val="34D399"/>
                </a:solidFill>
                <a:latin typeface="Calibri" pitchFamily="34" charset="0"/>
                <a:ea typeface="Calibri" pitchFamily="34" charset="-122"/>
                <a:cs typeface="Calibri" pitchFamily="34" charset="-120"/>
              </a:rPr>
              <a:t>STRONG</a:t>
            </a:r>
            <a:endParaRPr lang="en-US" sz="1000" dirty="0"/>
          </a:p>
        </p:txBody>
      </p:sp>
      <p:sp>
        <p:nvSpPr>
          <p:cNvPr id="29" name="Text 27"/>
          <p:cNvSpPr/>
          <p:nvPr/>
        </p:nvSpPr>
        <p:spPr>
          <a:xfrm>
            <a:off x="1371600" y="493776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P(NPV&gt;0)</a:t>
            </a:r>
            <a:endParaRPr lang="en-US" sz="800" dirty="0"/>
          </a:p>
        </p:txBody>
      </p:sp>
      <p:sp>
        <p:nvSpPr>
          <p:cNvPr id="30" name="Text 28"/>
          <p:cNvSpPr/>
          <p:nvPr/>
        </p:nvSpPr>
        <p:spPr>
          <a:xfrm>
            <a:off x="1371600" y="505663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71%</a:t>
            </a:r>
            <a:endParaRPr lang="en-US" sz="1400" dirty="0"/>
          </a:p>
        </p:txBody>
      </p:sp>
      <p:sp>
        <p:nvSpPr>
          <p:cNvPr id="31" name="Text 29"/>
          <p:cNvSpPr/>
          <p:nvPr/>
        </p:nvSpPr>
        <p:spPr>
          <a:xfrm>
            <a:off x="3108960" y="493776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NPV</a:t>
            </a:r>
            <a:endParaRPr lang="en-US" sz="800" dirty="0"/>
          </a:p>
        </p:txBody>
      </p:sp>
      <p:sp>
        <p:nvSpPr>
          <p:cNvPr id="32" name="Text 30"/>
          <p:cNvSpPr/>
          <p:nvPr/>
        </p:nvSpPr>
        <p:spPr>
          <a:xfrm>
            <a:off x="3108960" y="505663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$92M</a:t>
            </a:r>
            <a:endParaRPr lang="en-US" sz="1400" dirty="0"/>
          </a:p>
        </p:txBody>
      </p:sp>
      <p:sp>
        <p:nvSpPr>
          <p:cNvPr id="33" name="Text 31"/>
          <p:cNvSpPr/>
          <p:nvPr/>
        </p:nvSpPr>
        <p:spPr>
          <a:xfrm>
            <a:off x="4846320" y="493776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ROI</a:t>
            </a:r>
            <a:endParaRPr lang="en-US" sz="800" dirty="0"/>
          </a:p>
        </p:txBody>
      </p:sp>
      <p:sp>
        <p:nvSpPr>
          <p:cNvPr id="34" name="Text 32"/>
          <p:cNvSpPr/>
          <p:nvPr/>
        </p:nvSpPr>
        <p:spPr>
          <a:xfrm>
            <a:off x="4846320" y="505663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11.4x</a:t>
            </a:r>
            <a:endParaRPr lang="en-US" sz="1400" dirty="0"/>
          </a:p>
        </p:txBody>
      </p:sp>
      <p:sp>
        <p:nvSpPr>
          <p:cNvPr id="35" name="Text 33"/>
          <p:cNvSpPr/>
          <p:nvPr/>
        </p:nvSpPr>
        <p:spPr>
          <a:xfrm>
            <a:off x="6583680" y="493776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Payback</a:t>
            </a:r>
            <a:endParaRPr lang="en-US" sz="800" dirty="0"/>
          </a:p>
        </p:txBody>
      </p:sp>
      <p:sp>
        <p:nvSpPr>
          <p:cNvPr id="36" name="Text 34"/>
          <p:cNvSpPr/>
          <p:nvPr/>
        </p:nvSpPr>
        <p:spPr>
          <a:xfrm>
            <a:off x="6583680" y="505663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1.8y</a:t>
            </a:r>
            <a:endParaRPr lang="en-US" sz="1400" dirty="0"/>
          </a:p>
        </p:txBody>
      </p:sp>
      <p:sp>
        <p:nvSpPr>
          <p:cNvPr id="37" name="Shape 35"/>
          <p:cNvSpPr/>
          <p:nvPr/>
        </p:nvSpPr>
        <p:spPr>
          <a:xfrm>
            <a:off x="731520" y="5394960"/>
            <a:ext cx="10972800" cy="960120"/>
          </a:xfrm>
          <a:prstGeom prst="roundRect">
            <a:avLst>
              <a:gd name="adj" fmla="val 7619"/>
            </a:avLst>
          </a:prstGeom>
          <a:solidFill>
            <a:srgbClr val="131A2E"/>
          </a:solidFill>
          <a:ln w="12700">
            <a:solidFill>
              <a:srgbClr val="1F2A44"/>
            </a:solidFill>
            <a:prstDash val="solid"/>
          </a:ln>
        </p:spPr>
      </p:sp>
      <p:sp>
        <p:nvSpPr>
          <p:cNvPr id="38" name="Text 36"/>
          <p:cNvSpPr/>
          <p:nvPr/>
        </p:nvSpPr>
        <p:spPr>
          <a:xfrm>
            <a:off x="914400" y="5486400"/>
            <a:ext cx="457200" cy="548640"/>
          </a:xfrm>
          <a:prstGeom prst="rect">
            <a:avLst/>
          </a:prstGeom>
          <a:noFill/>
          <a:ln/>
        </p:spPr>
        <p:txBody>
          <a:bodyPr wrap="square" rtlCol="0" anchor="ctr"/>
          <a:lstStyle/>
          <a:p>
            <a:pPr indent="0" marL="0">
              <a:buNone/>
            </a:pPr>
            <a:r>
              <a:rPr lang="en-US" sz="2200" b="1" dirty="0">
                <a:solidFill>
                  <a:srgbClr val="818CF8"/>
                </a:solidFill>
                <a:latin typeface="Calibri" pitchFamily="34" charset="0"/>
                <a:ea typeface="Calibri" pitchFamily="34" charset="-122"/>
                <a:cs typeface="Calibri" pitchFamily="34" charset="-120"/>
              </a:rPr>
              <a:t>#3</a:t>
            </a:r>
            <a:endParaRPr lang="en-US" sz="2200" dirty="0"/>
          </a:p>
        </p:txBody>
      </p:sp>
      <p:sp>
        <p:nvSpPr>
          <p:cNvPr id="39" name="Text 37"/>
          <p:cNvSpPr/>
          <p:nvPr/>
        </p:nvSpPr>
        <p:spPr>
          <a:xfrm>
            <a:off x="1371600" y="5532120"/>
            <a:ext cx="6858000" cy="411480"/>
          </a:xfrm>
          <a:prstGeom prst="rect">
            <a:avLst/>
          </a:prstGeom>
          <a:noFill/>
          <a:ln/>
        </p:spPr>
        <p:txBody>
          <a:bodyPr wrap="square" rtlCol="0" anchor="ctr"/>
          <a:lstStyle/>
          <a:p>
            <a:pPr indent="0" marL="0">
              <a:buNone/>
            </a:pPr>
            <a:r>
              <a:rPr lang="en-US" sz="1400" b="1" dirty="0">
                <a:solidFill>
                  <a:srgbClr val="F1F5F9"/>
                </a:solidFill>
                <a:latin typeface="Calibri" pitchFamily="34" charset="0"/>
                <a:ea typeface="Calibri" pitchFamily="34" charset="-122"/>
                <a:cs typeface="Calibri" pitchFamily="34" charset="-120"/>
              </a:rPr>
              <a:t>Real-time yield optimization — Middle Corridor</a:t>
            </a:r>
            <a:endParaRPr lang="en-US" sz="1400" dirty="0"/>
          </a:p>
        </p:txBody>
      </p:sp>
      <p:sp>
        <p:nvSpPr>
          <p:cNvPr id="40" name="Shape 38"/>
          <p:cNvSpPr/>
          <p:nvPr/>
        </p:nvSpPr>
        <p:spPr>
          <a:xfrm>
            <a:off x="8138160" y="5577840"/>
            <a:ext cx="1463040" cy="320040"/>
          </a:xfrm>
          <a:prstGeom prst="roundRect">
            <a:avLst>
              <a:gd name="adj" fmla="val 11429"/>
            </a:avLst>
          </a:prstGeom>
          <a:solidFill>
            <a:srgbClr val="FBBF24">
              <a:alpha val="20000"/>
            </a:srgbClr>
          </a:solidFill>
          <a:ln w="12700">
            <a:solidFill>
              <a:srgbClr val="FBBF24">
                <a:alpha val="50000"/>
              </a:srgbClr>
            </a:solidFill>
            <a:prstDash val="solid"/>
          </a:ln>
        </p:spPr>
      </p:sp>
      <p:sp>
        <p:nvSpPr>
          <p:cNvPr id="41" name="Text 39"/>
          <p:cNvSpPr/>
          <p:nvPr/>
        </p:nvSpPr>
        <p:spPr>
          <a:xfrm>
            <a:off x="8138160" y="5577840"/>
            <a:ext cx="1463040" cy="320040"/>
          </a:xfrm>
          <a:prstGeom prst="rect">
            <a:avLst/>
          </a:prstGeom>
          <a:noFill/>
          <a:ln/>
        </p:spPr>
        <p:txBody>
          <a:bodyPr wrap="square" rtlCol="0" anchor="ctr"/>
          <a:lstStyle/>
          <a:p>
            <a:pPr algn="ctr" indent="0" marL="0">
              <a:buNone/>
            </a:pPr>
            <a:r>
              <a:rPr lang="en-US" sz="1000" b="1" dirty="0">
                <a:solidFill>
                  <a:srgbClr val="FBBF24"/>
                </a:solidFill>
                <a:latin typeface="Calibri" pitchFamily="34" charset="0"/>
                <a:ea typeface="Calibri" pitchFamily="34" charset="-122"/>
                <a:cs typeface="Calibri" pitchFamily="34" charset="-120"/>
              </a:rPr>
              <a:t>CAUTION</a:t>
            </a:r>
            <a:endParaRPr lang="en-US" sz="1000" dirty="0"/>
          </a:p>
        </p:txBody>
      </p:sp>
      <p:sp>
        <p:nvSpPr>
          <p:cNvPr id="42" name="Text 40"/>
          <p:cNvSpPr/>
          <p:nvPr/>
        </p:nvSpPr>
        <p:spPr>
          <a:xfrm>
            <a:off x="1371600" y="598932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P(NPV&gt;0)</a:t>
            </a:r>
            <a:endParaRPr lang="en-US" sz="800" dirty="0"/>
          </a:p>
        </p:txBody>
      </p:sp>
      <p:sp>
        <p:nvSpPr>
          <p:cNvPr id="43" name="Text 41"/>
          <p:cNvSpPr/>
          <p:nvPr/>
        </p:nvSpPr>
        <p:spPr>
          <a:xfrm>
            <a:off x="1371600" y="610819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62%</a:t>
            </a:r>
            <a:endParaRPr lang="en-US" sz="1400" dirty="0"/>
          </a:p>
        </p:txBody>
      </p:sp>
      <p:sp>
        <p:nvSpPr>
          <p:cNvPr id="44" name="Text 42"/>
          <p:cNvSpPr/>
          <p:nvPr/>
        </p:nvSpPr>
        <p:spPr>
          <a:xfrm>
            <a:off x="3108960" y="598932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NPV</a:t>
            </a:r>
            <a:endParaRPr lang="en-US" sz="800" dirty="0"/>
          </a:p>
        </p:txBody>
      </p:sp>
      <p:sp>
        <p:nvSpPr>
          <p:cNvPr id="45" name="Text 43"/>
          <p:cNvSpPr/>
          <p:nvPr/>
        </p:nvSpPr>
        <p:spPr>
          <a:xfrm>
            <a:off x="3108960" y="610819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$148M</a:t>
            </a:r>
            <a:endParaRPr lang="en-US" sz="1400" dirty="0"/>
          </a:p>
        </p:txBody>
      </p:sp>
      <p:sp>
        <p:nvSpPr>
          <p:cNvPr id="46" name="Text 44"/>
          <p:cNvSpPr/>
          <p:nvPr/>
        </p:nvSpPr>
        <p:spPr>
          <a:xfrm>
            <a:off x="4846320" y="598932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ROI</a:t>
            </a:r>
            <a:endParaRPr lang="en-US" sz="800" dirty="0"/>
          </a:p>
        </p:txBody>
      </p:sp>
      <p:sp>
        <p:nvSpPr>
          <p:cNvPr id="47" name="Text 45"/>
          <p:cNvSpPr/>
          <p:nvPr/>
        </p:nvSpPr>
        <p:spPr>
          <a:xfrm>
            <a:off x="4846320" y="610819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6.8x</a:t>
            </a:r>
            <a:endParaRPr lang="en-US" sz="1400" dirty="0"/>
          </a:p>
        </p:txBody>
      </p:sp>
      <p:sp>
        <p:nvSpPr>
          <p:cNvPr id="48" name="Text 46"/>
          <p:cNvSpPr/>
          <p:nvPr/>
        </p:nvSpPr>
        <p:spPr>
          <a:xfrm>
            <a:off x="6583680" y="5989320"/>
            <a:ext cx="1645920" cy="182880"/>
          </a:xfrm>
          <a:prstGeom prst="rect">
            <a:avLst/>
          </a:prstGeom>
          <a:noFill/>
          <a:ln/>
        </p:spPr>
        <p:txBody>
          <a:bodyPr wrap="square" rtlCol="0" anchor="ctr"/>
          <a:lstStyle/>
          <a:p>
            <a:pPr indent="0" marL="0">
              <a:buNone/>
            </a:pPr>
            <a:r>
              <a:rPr lang="en-US" sz="800" spc="100" kern="0" dirty="0">
                <a:solidFill>
                  <a:srgbClr val="94A3B8"/>
                </a:solidFill>
                <a:latin typeface="Calibri" pitchFamily="34" charset="0"/>
                <a:ea typeface="Calibri" pitchFamily="34" charset="-122"/>
                <a:cs typeface="Calibri" pitchFamily="34" charset="-120"/>
              </a:rPr>
              <a:t>Payback</a:t>
            </a:r>
            <a:endParaRPr lang="en-US" sz="800" dirty="0"/>
          </a:p>
        </p:txBody>
      </p:sp>
      <p:sp>
        <p:nvSpPr>
          <p:cNvPr id="49" name="Text 47"/>
          <p:cNvSpPr/>
          <p:nvPr/>
        </p:nvSpPr>
        <p:spPr>
          <a:xfrm>
            <a:off x="6583680" y="6108192"/>
            <a:ext cx="1645920" cy="228600"/>
          </a:xfrm>
          <a:prstGeom prst="rect">
            <a:avLst/>
          </a:prstGeom>
          <a:noFill/>
          <a:ln/>
        </p:spPr>
        <p:txBody>
          <a:bodyPr wrap="square" rtlCol="0" anchor="ctr"/>
          <a:lstStyle/>
          <a:p>
            <a:pPr indent="0" marL="0">
              <a:buNone/>
            </a:pPr>
            <a:r>
              <a:rPr lang="en-US" sz="1400" b="1" dirty="0">
                <a:solidFill>
                  <a:srgbClr val="F1F5F9"/>
                </a:solidFill>
                <a:latin typeface="Consolas" pitchFamily="34" charset="0"/>
                <a:ea typeface="Consolas" pitchFamily="34" charset="-122"/>
                <a:cs typeface="Consolas" pitchFamily="34" charset="-120"/>
              </a:rPr>
              <a:t>2.4y</a:t>
            </a:r>
            <a:endParaRPr lang="en-US" sz="1400" dirty="0"/>
          </a:p>
        </p:txBody>
      </p:sp>
      <p:sp>
        <p:nvSpPr>
          <p:cNvPr id="50" name="Text 48"/>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51" name="Text 49"/>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12</a:t>
            </a:r>
            <a:endParaRPr lang="en-US" sz="1000" dirty="0"/>
          </a:p>
        </p:txBody>
      </p:sp>
      <p:sp>
        <p:nvSpPr>
          <p:cNvPr id="52" name="Shape 50"/>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BACKTEST · METHODOLOGY PROOF</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600" b="1" dirty="0">
                <a:solidFill>
                  <a:srgbClr val="F1F5F9"/>
                </a:solidFill>
                <a:latin typeface="Calibri" pitchFamily="34" charset="0"/>
                <a:ea typeface="Calibri" pitchFamily="34" charset="-122"/>
                <a:cs typeface="Calibri" pitchFamily="34" charset="-120"/>
              </a:rPr>
              <a:t>We predicted three real outcomes — all within P10–P90.</a:t>
            </a:r>
            <a:endParaRPr lang="en-US" sz="2600" dirty="0"/>
          </a:p>
        </p:txBody>
      </p:sp>
      <p:sp>
        <p:nvSpPr>
          <p:cNvPr id="5" name="Text 3"/>
          <p:cNvSpPr/>
          <p:nvPr/>
        </p:nvSpPr>
        <p:spPr>
          <a:xfrm>
            <a:off x="731520" y="1554480"/>
            <a:ext cx="10972800" cy="36576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Same engine. Same priors. No special tuning. Outcomes hidden during forecast.</a:t>
            </a:r>
            <a:endParaRPr lang="en-US" sz="1300" dirty="0"/>
          </a:p>
        </p:txBody>
      </p:sp>
      <p:sp>
        <p:nvSpPr>
          <p:cNvPr id="6" name="Shape 4"/>
          <p:cNvSpPr/>
          <p:nvPr/>
        </p:nvSpPr>
        <p:spPr>
          <a:xfrm>
            <a:off x="731520" y="2194560"/>
            <a:ext cx="10972800" cy="1325880"/>
          </a:xfrm>
          <a:prstGeom prst="roundRect">
            <a:avLst>
              <a:gd name="adj" fmla="val 6897"/>
            </a:avLst>
          </a:prstGeom>
          <a:solidFill>
            <a:srgbClr val="131A2E"/>
          </a:solidFill>
          <a:ln w="12700">
            <a:solidFill>
              <a:srgbClr val="1F2A44"/>
            </a:solidFill>
            <a:prstDash val="solid"/>
          </a:ln>
        </p:spPr>
      </p:sp>
      <p:sp>
        <p:nvSpPr>
          <p:cNvPr id="7" name="Text 5"/>
          <p:cNvSpPr/>
          <p:nvPr/>
        </p:nvSpPr>
        <p:spPr>
          <a:xfrm>
            <a:off x="914400" y="2286000"/>
            <a:ext cx="411480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Hertz / Accenture</a:t>
            </a:r>
            <a:endParaRPr lang="en-US" sz="1600" dirty="0"/>
          </a:p>
        </p:txBody>
      </p:sp>
      <p:sp>
        <p:nvSpPr>
          <p:cNvPr id="8" name="Text 6"/>
          <p:cNvSpPr/>
          <p:nvPr/>
        </p:nvSpPr>
        <p:spPr>
          <a:xfrm>
            <a:off x="914400" y="2697480"/>
            <a:ext cx="4114800" cy="274320"/>
          </a:xfrm>
          <a:prstGeom prst="rect">
            <a:avLst/>
          </a:prstGeom>
          <a:noFill/>
          <a:ln/>
        </p:spPr>
        <p:txBody>
          <a:bodyPr wrap="square"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2016 · $32M booking platform</a:t>
            </a:r>
            <a:endParaRPr lang="en-US" sz="1100" dirty="0"/>
          </a:p>
        </p:txBody>
      </p:sp>
      <p:sp>
        <p:nvSpPr>
          <p:cNvPr id="9" name="Text 7"/>
          <p:cNvSpPr/>
          <p:nvPr/>
        </p:nvSpPr>
        <p:spPr>
          <a:xfrm>
            <a:off x="5120640" y="2286000"/>
            <a:ext cx="3200400" cy="228600"/>
          </a:xfrm>
          <a:prstGeom prst="rect">
            <a:avLst/>
          </a:prstGeom>
          <a:noFill/>
          <a:ln/>
        </p:spPr>
        <p:txBody>
          <a:bodyPr wrap="square" rtlCol="0" anchor="ctr"/>
          <a:lstStyle/>
          <a:p>
            <a:pPr indent="0" marL="0">
              <a:buNone/>
            </a:pPr>
            <a:r>
              <a:rPr lang="en-US" sz="900" b="1" spc="100" kern="0" dirty="0">
                <a:solidFill>
                  <a:srgbClr val="22D3EE"/>
                </a:solidFill>
                <a:latin typeface="Calibri" pitchFamily="34" charset="0"/>
                <a:ea typeface="Calibri" pitchFamily="34" charset="-122"/>
                <a:cs typeface="Calibri" pitchFamily="34" charset="-120"/>
              </a:rPr>
              <a:t>TIMESTONE PRE-PROJECT FORECAST</a:t>
            </a:r>
            <a:endParaRPr lang="en-US" sz="900" dirty="0"/>
          </a:p>
        </p:txBody>
      </p:sp>
      <p:sp>
        <p:nvSpPr>
          <p:cNvPr id="10" name="Text 8"/>
          <p:cNvSpPr/>
          <p:nvPr/>
        </p:nvSpPr>
        <p:spPr>
          <a:xfrm>
            <a:off x="5120640" y="256032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P=38% · -$8M mean · PILOT</a:t>
            </a:r>
            <a:endParaRPr lang="en-US" sz="1200" dirty="0"/>
          </a:p>
        </p:txBody>
      </p:sp>
      <p:sp>
        <p:nvSpPr>
          <p:cNvPr id="11" name="Text 9"/>
          <p:cNvSpPr/>
          <p:nvPr/>
        </p:nvSpPr>
        <p:spPr>
          <a:xfrm>
            <a:off x="8412480" y="2286000"/>
            <a:ext cx="3200400" cy="228600"/>
          </a:xfrm>
          <a:prstGeom prst="rect">
            <a:avLst/>
          </a:prstGeom>
          <a:noFill/>
          <a:ln/>
        </p:spPr>
        <p:txBody>
          <a:bodyPr wrap="square" rtlCol="0" anchor="ctr"/>
          <a:lstStyle/>
          <a:p>
            <a:pPr indent="0" marL="0">
              <a:buNone/>
            </a:pPr>
            <a:r>
              <a:rPr lang="en-US" sz="900" b="1" spc="100" kern="0" dirty="0">
                <a:solidFill>
                  <a:srgbClr val="F87171"/>
                </a:solidFill>
                <a:latin typeface="Calibri" pitchFamily="34" charset="0"/>
                <a:ea typeface="Calibri" pitchFamily="34" charset="-122"/>
                <a:cs typeface="Calibri" pitchFamily="34" charset="-120"/>
              </a:rPr>
              <a:t>ACTUAL OUTCOME</a:t>
            </a:r>
            <a:endParaRPr lang="en-US" sz="900" dirty="0"/>
          </a:p>
        </p:txBody>
      </p:sp>
      <p:sp>
        <p:nvSpPr>
          <p:cNvPr id="12" name="Text 10"/>
          <p:cNvSpPr/>
          <p:nvPr/>
        </p:nvSpPr>
        <p:spPr>
          <a:xfrm>
            <a:off x="8412480" y="256032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FAILED · -$32M writeoff · Litigation 2019</a:t>
            </a:r>
            <a:endParaRPr lang="en-US" sz="1200" dirty="0"/>
          </a:p>
        </p:txBody>
      </p:sp>
      <p:sp>
        <p:nvSpPr>
          <p:cNvPr id="13" name="Shape 11"/>
          <p:cNvSpPr/>
          <p:nvPr/>
        </p:nvSpPr>
        <p:spPr>
          <a:xfrm>
            <a:off x="914400" y="3108960"/>
            <a:ext cx="2286000" cy="320040"/>
          </a:xfrm>
          <a:prstGeom prst="roundRect">
            <a:avLst>
              <a:gd name="adj" fmla="val 11429"/>
            </a:avLst>
          </a:prstGeom>
          <a:solidFill>
            <a:srgbClr val="F87171">
              <a:alpha val="20000"/>
            </a:srgbClr>
          </a:solidFill>
          <a:ln w="12700">
            <a:solidFill>
              <a:srgbClr val="F87171">
                <a:alpha val="50000"/>
              </a:srgbClr>
            </a:solidFill>
            <a:prstDash val="solid"/>
          </a:ln>
        </p:spPr>
      </p:sp>
      <p:sp>
        <p:nvSpPr>
          <p:cNvPr id="14" name="Text 12"/>
          <p:cNvSpPr/>
          <p:nvPr/>
        </p:nvSpPr>
        <p:spPr>
          <a:xfrm>
            <a:off x="914400" y="3108960"/>
            <a:ext cx="2286000" cy="320040"/>
          </a:xfrm>
          <a:prstGeom prst="rect">
            <a:avLst/>
          </a:prstGeom>
          <a:noFill/>
          <a:ln/>
        </p:spPr>
        <p:txBody>
          <a:bodyPr wrap="square"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 Failure predicted</a:t>
            </a:r>
            <a:endParaRPr lang="en-US" sz="1100" dirty="0"/>
          </a:p>
        </p:txBody>
      </p:sp>
      <p:sp>
        <p:nvSpPr>
          <p:cNvPr id="15" name="Shape 13"/>
          <p:cNvSpPr/>
          <p:nvPr/>
        </p:nvSpPr>
        <p:spPr>
          <a:xfrm>
            <a:off x="731520" y="3657600"/>
            <a:ext cx="10972800" cy="1325880"/>
          </a:xfrm>
          <a:prstGeom prst="roundRect">
            <a:avLst>
              <a:gd name="adj" fmla="val 6897"/>
            </a:avLst>
          </a:prstGeom>
          <a:solidFill>
            <a:srgbClr val="131A2E"/>
          </a:solidFill>
          <a:ln w="12700">
            <a:solidFill>
              <a:srgbClr val="1F2A44"/>
            </a:solidFill>
            <a:prstDash val="solid"/>
          </a:ln>
        </p:spPr>
      </p:sp>
      <p:sp>
        <p:nvSpPr>
          <p:cNvPr id="16" name="Text 14"/>
          <p:cNvSpPr/>
          <p:nvPr/>
        </p:nvSpPr>
        <p:spPr>
          <a:xfrm>
            <a:off x="914400" y="3749040"/>
            <a:ext cx="411480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GE Predix</a:t>
            </a:r>
            <a:endParaRPr lang="en-US" sz="1600" dirty="0"/>
          </a:p>
        </p:txBody>
      </p:sp>
      <p:sp>
        <p:nvSpPr>
          <p:cNvPr id="17" name="Text 15"/>
          <p:cNvSpPr/>
          <p:nvPr/>
        </p:nvSpPr>
        <p:spPr>
          <a:xfrm>
            <a:off x="914400" y="4160520"/>
            <a:ext cx="4114800" cy="274320"/>
          </a:xfrm>
          <a:prstGeom prst="rect">
            <a:avLst/>
          </a:prstGeom>
          <a:noFill/>
          <a:ln/>
        </p:spPr>
        <p:txBody>
          <a:bodyPr wrap="square"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2015 · $4B industrial IoT platform</a:t>
            </a:r>
            <a:endParaRPr lang="en-US" sz="1100" dirty="0"/>
          </a:p>
        </p:txBody>
      </p:sp>
      <p:sp>
        <p:nvSpPr>
          <p:cNvPr id="18" name="Text 16"/>
          <p:cNvSpPr/>
          <p:nvPr/>
        </p:nvSpPr>
        <p:spPr>
          <a:xfrm>
            <a:off x="5120640" y="3749040"/>
            <a:ext cx="3200400" cy="228600"/>
          </a:xfrm>
          <a:prstGeom prst="rect">
            <a:avLst/>
          </a:prstGeom>
          <a:noFill/>
          <a:ln/>
        </p:spPr>
        <p:txBody>
          <a:bodyPr wrap="square" rtlCol="0" anchor="ctr"/>
          <a:lstStyle/>
          <a:p>
            <a:pPr indent="0" marL="0">
              <a:buNone/>
            </a:pPr>
            <a:r>
              <a:rPr lang="en-US" sz="900" b="1" spc="100" kern="0" dirty="0">
                <a:solidFill>
                  <a:srgbClr val="22D3EE"/>
                </a:solidFill>
                <a:latin typeface="Calibri" pitchFamily="34" charset="0"/>
                <a:ea typeface="Calibri" pitchFamily="34" charset="-122"/>
                <a:cs typeface="Calibri" pitchFamily="34" charset="-120"/>
              </a:rPr>
              <a:t>TIMESTONE PRE-PROJECT FORECAST</a:t>
            </a:r>
            <a:endParaRPr lang="en-US" sz="900" dirty="0"/>
          </a:p>
        </p:txBody>
      </p:sp>
      <p:sp>
        <p:nvSpPr>
          <p:cNvPr id="19" name="Text 17"/>
          <p:cNvSpPr/>
          <p:nvPr/>
        </p:nvSpPr>
        <p:spPr>
          <a:xfrm>
            <a:off x="5120640" y="402336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P=29% · -$1.8B mean · PILOT</a:t>
            </a:r>
            <a:endParaRPr lang="en-US" sz="1200" dirty="0"/>
          </a:p>
        </p:txBody>
      </p:sp>
      <p:sp>
        <p:nvSpPr>
          <p:cNvPr id="20" name="Text 18"/>
          <p:cNvSpPr/>
          <p:nvPr/>
        </p:nvSpPr>
        <p:spPr>
          <a:xfrm>
            <a:off x="8412480" y="3749040"/>
            <a:ext cx="3200400" cy="228600"/>
          </a:xfrm>
          <a:prstGeom prst="rect">
            <a:avLst/>
          </a:prstGeom>
          <a:noFill/>
          <a:ln/>
        </p:spPr>
        <p:txBody>
          <a:bodyPr wrap="square" rtlCol="0" anchor="ctr"/>
          <a:lstStyle/>
          <a:p>
            <a:pPr indent="0" marL="0">
              <a:buNone/>
            </a:pPr>
            <a:r>
              <a:rPr lang="en-US" sz="900" b="1" spc="100" kern="0" dirty="0">
                <a:solidFill>
                  <a:srgbClr val="F87171"/>
                </a:solidFill>
                <a:latin typeface="Calibri" pitchFamily="34" charset="0"/>
                <a:ea typeface="Calibri" pitchFamily="34" charset="-122"/>
                <a:cs typeface="Calibri" pitchFamily="34" charset="-120"/>
              </a:rPr>
              <a:t>ACTUAL OUTCOME</a:t>
            </a:r>
            <a:endParaRPr lang="en-US" sz="900" dirty="0"/>
          </a:p>
        </p:txBody>
      </p:sp>
      <p:sp>
        <p:nvSpPr>
          <p:cNvPr id="21" name="Text 19"/>
          <p:cNvSpPr/>
          <p:nvPr/>
        </p:nvSpPr>
        <p:spPr>
          <a:xfrm>
            <a:off x="8412480" y="402336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FAILED · -$5B writeoff · Sold to Wabtec</a:t>
            </a:r>
            <a:endParaRPr lang="en-US" sz="1200" dirty="0"/>
          </a:p>
        </p:txBody>
      </p:sp>
      <p:sp>
        <p:nvSpPr>
          <p:cNvPr id="22" name="Shape 20"/>
          <p:cNvSpPr/>
          <p:nvPr/>
        </p:nvSpPr>
        <p:spPr>
          <a:xfrm>
            <a:off x="914400" y="4572000"/>
            <a:ext cx="2286000" cy="320040"/>
          </a:xfrm>
          <a:prstGeom prst="roundRect">
            <a:avLst>
              <a:gd name="adj" fmla="val 11429"/>
            </a:avLst>
          </a:prstGeom>
          <a:solidFill>
            <a:srgbClr val="F87171">
              <a:alpha val="20000"/>
            </a:srgbClr>
          </a:solidFill>
          <a:ln w="12700">
            <a:solidFill>
              <a:srgbClr val="F87171">
                <a:alpha val="50000"/>
              </a:srgbClr>
            </a:solidFill>
            <a:prstDash val="solid"/>
          </a:ln>
        </p:spPr>
      </p:sp>
      <p:sp>
        <p:nvSpPr>
          <p:cNvPr id="23" name="Text 21"/>
          <p:cNvSpPr/>
          <p:nvPr/>
        </p:nvSpPr>
        <p:spPr>
          <a:xfrm>
            <a:off x="914400" y="4572000"/>
            <a:ext cx="2286000" cy="320040"/>
          </a:xfrm>
          <a:prstGeom prst="rect">
            <a:avLst/>
          </a:prstGeom>
          <a:noFill/>
          <a:ln/>
        </p:spPr>
        <p:txBody>
          <a:bodyPr wrap="square"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 Failure predicted</a:t>
            </a:r>
            <a:endParaRPr lang="en-US" sz="1100" dirty="0"/>
          </a:p>
        </p:txBody>
      </p:sp>
      <p:sp>
        <p:nvSpPr>
          <p:cNvPr id="24" name="Shape 22"/>
          <p:cNvSpPr/>
          <p:nvPr/>
        </p:nvSpPr>
        <p:spPr>
          <a:xfrm>
            <a:off x="731520" y="5120640"/>
            <a:ext cx="10972800" cy="1325880"/>
          </a:xfrm>
          <a:prstGeom prst="roundRect">
            <a:avLst>
              <a:gd name="adj" fmla="val 6897"/>
            </a:avLst>
          </a:prstGeom>
          <a:solidFill>
            <a:srgbClr val="131A2E"/>
          </a:solidFill>
          <a:ln w="12700">
            <a:solidFill>
              <a:srgbClr val="1F2A44"/>
            </a:solidFill>
            <a:prstDash val="solid"/>
          </a:ln>
        </p:spPr>
      </p:sp>
      <p:sp>
        <p:nvSpPr>
          <p:cNvPr id="25" name="Text 23"/>
          <p:cNvSpPr/>
          <p:nvPr/>
        </p:nvSpPr>
        <p:spPr>
          <a:xfrm>
            <a:off x="914400" y="5212080"/>
            <a:ext cx="411480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Maersk Spot</a:t>
            </a:r>
            <a:endParaRPr lang="en-US" sz="1600" dirty="0"/>
          </a:p>
        </p:txBody>
      </p:sp>
      <p:sp>
        <p:nvSpPr>
          <p:cNvPr id="26" name="Text 24"/>
          <p:cNvSpPr/>
          <p:nvPr/>
        </p:nvSpPr>
        <p:spPr>
          <a:xfrm>
            <a:off x="914400" y="5623560"/>
            <a:ext cx="4114800" cy="274320"/>
          </a:xfrm>
          <a:prstGeom prst="rect">
            <a:avLst/>
          </a:prstGeom>
          <a:noFill/>
          <a:ln/>
        </p:spPr>
        <p:txBody>
          <a:bodyPr wrap="square"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2018 · $300M container booking</a:t>
            </a:r>
            <a:endParaRPr lang="en-US" sz="1100" dirty="0"/>
          </a:p>
        </p:txBody>
      </p:sp>
      <p:sp>
        <p:nvSpPr>
          <p:cNvPr id="27" name="Text 25"/>
          <p:cNvSpPr/>
          <p:nvPr/>
        </p:nvSpPr>
        <p:spPr>
          <a:xfrm>
            <a:off x="5120640" y="5212080"/>
            <a:ext cx="3200400" cy="228600"/>
          </a:xfrm>
          <a:prstGeom prst="rect">
            <a:avLst/>
          </a:prstGeom>
          <a:noFill/>
          <a:ln/>
        </p:spPr>
        <p:txBody>
          <a:bodyPr wrap="square" rtlCol="0" anchor="ctr"/>
          <a:lstStyle/>
          <a:p>
            <a:pPr indent="0" marL="0">
              <a:buNone/>
            </a:pPr>
            <a:r>
              <a:rPr lang="en-US" sz="900" b="1" spc="100" kern="0" dirty="0">
                <a:solidFill>
                  <a:srgbClr val="22D3EE"/>
                </a:solidFill>
                <a:latin typeface="Calibri" pitchFamily="34" charset="0"/>
                <a:ea typeface="Calibri" pitchFamily="34" charset="-122"/>
                <a:cs typeface="Calibri" pitchFamily="34" charset="-120"/>
              </a:rPr>
              <a:t>TIMESTONE PRE-PROJECT FORECAST</a:t>
            </a:r>
            <a:endParaRPr lang="en-US" sz="900" dirty="0"/>
          </a:p>
        </p:txBody>
      </p:sp>
      <p:sp>
        <p:nvSpPr>
          <p:cNvPr id="28" name="Text 26"/>
          <p:cNvSpPr/>
          <p:nvPr/>
        </p:nvSpPr>
        <p:spPr>
          <a:xfrm>
            <a:off x="5120640" y="548640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P=76% · +$420M mean · STRONG</a:t>
            </a:r>
            <a:endParaRPr lang="en-US" sz="1200" dirty="0"/>
          </a:p>
        </p:txBody>
      </p:sp>
      <p:sp>
        <p:nvSpPr>
          <p:cNvPr id="29" name="Text 27"/>
          <p:cNvSpPr/>
          <p:nvPr/>
        </p:nvSpPr>
        <p:spPr>
          <a:xfrm>
            <a:off x="8412480" y="5212080"/>
            <a:ext cx="3200400" cy="228600"/>
          </a:xfrm>
          <a:prstGeom prst="rect">
            <a:avLst/>
          </a:prstGeom>
          <a:noFill/>
          <a:ln/>
        </p:spPr>
        <p:txBody>
          <a:bodyPr wrap="square" rtlCol="0" anchor="ctr"/>
          <a:lstStyle/>
          <a:p>
            <a:pPr indent="0" marL="0">
              <a:buNone/>
            </a:pPr>
            <a:r>
              <a:rPr lang="en-US" sz="900" b="1" spc="100" kern="0" dirty="0">
                <a:solidFill>
                  <a:srgbClr val="34D399"/>
                </a:solidFill>
                <a:latin typeface="Calibri" pitchFamily="34" charset="0"/>
                <a:ea typeface="Calibri" pitchFamily="34" charset="-122"/>
                <a:cs typeface="Calibri" pitchFamily="34" charset="-120"/>
              </a:rPr>
              <a:t>ACTUAL OUTCOME</a:t>
            </a:r>
            <a:endParaRPr lang="en-US" sz="900" dirty="0"/>
          </a:p>
        </p:txBody>
      </p:sp>
      <p:sp>
        <p:nvSpPr>
          <p:cNvPr id="30" name="Text 28"/>
          <p:cNvSpPr/>
          <p:nvPr/>
        </p:nvSpPr>
        <p:spPr>
          <a:xfrm>
            <a:off x="8412480" y="5486400"/>
            <a:ext cx="3200400" cy="640080"/>
          </a:xfrm>
          <a:prstGeom prst="rect">
            <a:avLst/>
          </a:prstGeom>
          <a:noFill/>
          <a:ln/>
        </p:spPr>
        <p:txBody>
          <a:bodyPr wrap="square" rtlCol="0" anchor="ctr"/>
          <a:lstStyle/>
          <a:p>
            <a:pPr indent="0" marL="0">
              <a:buNone/>
            </a:pPr>
            <a:r>
              <a:rPr lang="en-US" sz="1200" dirty="0">
                <a:solidFill>
                  <a:srgbClr val="CBD5E1"/>
                </a:solidFill>
                <a:latin typeface="Consolas" pitchFamily="34" charset="0"/>
                <a:ea typeface="Consolas" pitchFamily="34" charset="-122"/>
                <a:cs typeface="Consolas" pitchFamily="34" charset="-120"/>
              </a:rPr>
              <a:t>SUCCESS · +$680M actual · 50% adoption</a:t>
            </a:r>
            <a:endParaRPr lang="en-US" sz="1200" dirty="0"/>
          </a:p>
        </p:txBody>
      </p:sp>
      <p:sp>
        <p:nvSpPr>
          <p:cNvPr id="31" name="Shape 29"/>
          <p:cNvSpPr/>
          <p:nvPr/>
        </p:nvSpPr>
        <p:spPr>
          <a:xfrm>
            <a:off x="914400" y="6035040"/>
            <a:ext cx="2286000" cy="320040"/>
          </a:xfrm>
          <a:prstGeom prst="roundRect">
            <a:avLst>
              <a:gd name="adj" fmla="val 11429"/>
            </a:avLst>
          </a:prstGeom>
          <a:solidFill>
            <a:srgbClr val="34D399">
              <a:alpha val="20000"/>
            </a:srgbClr>
          </a:solidFill>
          <a:ln w="12700">
            <a:solidFill>
              <a:srgbClr val="34D399">
                <a:alpha val="50000"/>
              </a:srgbClr>
            </a:solidFill>
            <a:prstDash val="solid"/>
          </a:ln>
        </p:spPr>
      </p:sp>
      <p:sp>
        <p:nvSpPr>
          <p:cNvPr id="32" name="Text 30"/>
          <p:cNvSpPr/>
          <p:nvPr/>
        </p:nvSpPr>
        <p:spPr>
          <a:xfrm>
            <a:off x="914400" y="6035040"/>
            <a:ext cx="2286000" cy="320040"/>
          </a:xfrm>
          <a:prstGeom prst="rect">
            <a:avLst/>
          </a:prstGeom>
          <a:noFill/>
          <a:ln/>
        </p:spPr>
        <p:txBody>
          <a:bodyPr wrap="square"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 Success predicted</a:t>
            </a:r>
            <a:endParaRPr lang="en-US" sz="1100" dirty="0"/>
          </a:p>
        </p:txBody>
      </p:sp>
      <p:sp>
        <p:nvSpPr>
          <p:cNvPr id="33" name="Text 31"/>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34" name="Text 32"/>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12</a:t>
            </a:r>
            <a:endParaRPr lang="en-US" sz="1000" dirty="0"/>
          </a:p>
        </p:txBody>
      </p:sp>
      <p:sp>
        <p:nvSpPr>
          <p:cNvPr id="35" name="Shape 33"/>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PRODUCT FRONTIER · v0.4 PREVIEW</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Beyond averages: see the path-dependence.</a:t>
            </a:r>
            <a:endParaRPr lang="en-US" sz="2800" dirty="0"/>
          </a:p>
        </p:txBody>
      </p:sp>
      <p:sp>
        <p:nvSpPr>
          <p:cNvPr id="5" name="Shape 3"/>
          <p:cNvSpPr/>
          <p:nvPr/>
        </p:nvSpPr>
        <p:spPr>
          <a:xfrm>
            <a:off x="731520" y="1737360"/>
            <a:ext cx="5303520" cy="4754880"/>
          </a:xfrm>
          <a:prstGeom prst="roundRect">
            <a:avLst>
              <a:gd name="adj" fmla="val 2308"/>
            </a:avLst>
          </a:prstGeom>
          <a:solidFill>
            <a:srgbClr val="131A2E"/>
          </a:solidFill>
          <a:ln w="12700">
            <a:solidFill>
              <a:srgbClr val="1F2A44"/>
            </a:solidFill>
            <a:prstDash val="solid"/>
          </a:ln>
        </p:spPr>
      </p:sp>
      <p:sp>
        <p:nvSpPr>
          <p:cNvPr id="6" name="Text 4"/>
          <p:cNvSpPr/>
          <p:nvPr/>
        </p:nvSpPr>
        <p:spPr>
          <a:xfrm>
            <a:off x="914400" y="1874520"/>
            <a:ext cx="4937760" cy="365760"/>
          </a:xfrm>
          <a:prstGeom prst="rect">
            <a:avLst/>
          </a:prstGeom>
          <a:noFill/>
          <a:ln/>
        </p:spPr>
        <p:txBody>
          <a:bodyPr wrap="square"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Entity graph — KTZ as a living system</a:t>
            </a:r>
            <a:endParaRPr lang="en-US" sz="1500" dirty="0"/>
          </a:p>
        </p:txBody>
      </p:sp>
      <p:sp>
        <p:nvSpPr>
          <p:cNvPr id="7" name="Text 5"/>
          <p:cNvSpPr/>
          <p:nvPr/>
        </p:nvSpPr>
        <p:spPr>
          <a:xfrm>
            <a:off x="914400" y="2331720"/>
            <a:ext cx="4937760" cy="4114800"/>
          </a:xfrm>
          <a:prstGeom prst="rect">
            <a:avLst/>
          </a:prstGeom>
          <a:noFill/>
          <a:ln/>
        </p:spPr>
        <p:txBody>
          <a:bodyPr wrap="square" rtlCol="0" anchor="ctr"/>
          <a:lstStyle/>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~50 atomic entities: depots, locomotive series, wagon types, top corporate accounts, regulators, competitors, cross-border interfaces.</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External factors are injectable: oil price, KZT/USD, RU sanctions, China demand, winter severity, grain harvest yield.</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A transformation initiative propagates through the graph and we evaluate it against 100 synthetic alternate KTZ states.</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Click any entity to interrogate it directly — KazMunayGas Logistics Director, KREMZK tariff commissioner, China Railway border interface director — each with their own constraints and incentives.</a:t>
            </a:r>
            <a:endParaRPr lang="en-US" sz="1100" dirty="0"/>
          </a:p>
        </p:txBody>
      </p:sp>
      <p:sp>
        <p:nvSpPr>
          <p:cNvPr id="8" name="Shape 6"/>
          <p:cNvSpPr/>
          <p:nvPr/>
        </p:nvSpPr>
        <p:spPr>
          <a:xfrm>
            <a:off x="6400800" y="1737360"/>
            <a:ext cx="5303520" cy="4754880"/>
          </a:xfrm>
          <a:prstGeom prst="roundRect">
            <a:avLst>
              <a:gd name="adj" fmla="val 2308"/>
            </a:avLst>
          </a:prstGeom>
          <a:solidFill>
            <a:srgbClr val="131A2E"/>
          </a:solidFill>
          <a:ln w="12700">
            <a:solidFill>
              <a:srgbClr val="1F2A44"/>
            </a:solidFill>
            <a:prstDash val="solid"/>
          </a:ln>
        </p:spPr>
      </p:sp>
      <p:sp>
        <p:nvSpPr>
          <p:cNvPr id="9" name="Text 7"/>
          <p:cNvSpPr/>
          <p:nvPr/>
        </p:nvSpPr>
        <p:spPr>
          <a:xfrm>
            <a:off x="6583680" y="1874520"/>
            <a:ext cx="4937760" cy="365760"/>
          </a:xfrm>
          <a:prstGeom prst="rect">
            <a:avLst/>
          </a:prstGeom>
          <a:noFill/>
          <a:ln/>
        </p:spPr>
        <p:txBody>
          <a:bodyPr wrap="square" rtlCol="0" anchor="ctr"/>
          <a:lstStyle/>
          <a:p>
            <a:pPr indent="0" marL="0">
              <a:buNone/>
            </a:pPr>
            <a:r>
              <a:rPr lang="en-US" sz="1500" b="1" dirty="0">
                <a:solidFill>
                  <a:srgbClr val="F1F5F9"/>
                </a:solidFill>
                <a:latin typeface="Calibri" pitchFamily="34" charset="0"/>
                <a:ea typeface="Calibri" pitchFamily="34" charset="-122"/>
                <a:cs typeface="Calibri" pitchFamily="34" charset="-120"/>
              </a:rPr>
              <a:t>Time-series · 60 months × 100 timelines</a:t>
            </a:r>
            <a:endParaRPr lang="en-US" sz="1500" dirty="0"/>
          </a:p>
        </p:txBody>
      </p:sp>
      <p:sp>
        <p:nvSpPr>
          <p:cNvPr id="10" name="Text 8"/>
          <p:cNvSpPr/>
          <p:nvPr/>
        </p:nvSpPr>
        <p:spPr>
          <a:xfrm>
            <a:off x="6583680" y="2331720"/>
            <a:ext cx="4937760" cy="4114800"/>
          </a:xfrm>
          <a:prstGeom prst="rect">
            <a:avLst/>
          </a:prstGeom>
          <a:noFill/>
          <a:ln/>
        </p:spPr>
        <p:txBody>
          <a:bodyPr wrap="square" rtlCol="0" anchor="ctr"/>
          <a:lstStyle/>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Static averages hide path-dependence. TimeStone runs 100 parallel KTZ timelines forward, month by month.</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16 event templates fire with realistic per-month probabilities: RU sanctions intensify (1.2%/mo), China demand surge (1.5%/mo), oil crash (0.8%/mo), harsh winter (2.5% in winter months), tariff regulator action, KMG renegotiation, geopolitical shock, supply chain crunch, grain bumper.</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~6,000 month-events per run. Each timeline reacts differently.</a:t>
            </a:r>
            <a:endParaRPr lang="en-US" sz="1100" dirty="0"/>
          </a:p>
          <a:p>
            <a:pPr indent="0" marL="0">
              <a:spcAft>
                <a:spcPts val="800"/>
              </a:spcAft>
              <a:buNone/>
            </a:pPr>
            <a:endParaRPr lang="en-US" sz="1100" dirty="0"/>
          </a:p>
          <a:p>
            <a:pPr indent="0" marL="0">
              <a:spcAft>
                <a:spcPts val="800"/>
              </a:spcAft>
              <a:buNone/>
            </a:pPr>
            <a:r>
              <a:rPr lang="en-US" sz="1100" dirty="0">
                <a:solidFill>
                  <a:srgbClr val="CBD5E1"/>
                </a:solidFill>
                <a:latin typeface="Calibri" pitchFamily="34" charset="0"/>
                <a:ea typeface="Calibri" pitchFamily="34" charset="-122"/>
                <a:cs typeface="Calibri" pitchFamily="34" charset="-120"/>
              </a:rPr>
              <a:t>A CFO sees not 'expected NPV X', but 'across 100 plausible futures, how many survive each event sequence — and which events killed the rest'.</a:t>
            </a:r>
            <a:endParaRPr lang="en-US" sz="1100" dirty="0"/>
          </a:p>
        </p:txBody>
      </p:sp>
      <p:sp>
        <p:nvSpPr>
          <p:cNvPr id="11" name="Text 9"/>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12" name="Text 10"/>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12</a:t>
            </a:r>
            <a:endParaRPr lang="en-US" sz="1000" dirty="0"/>
          </a:p>
        </p:txBody>
      </p:sp>
      <p:sp>
        <p:nvSpPr>
          <p:cNvPr id="13" name="Shape 11"/>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WHY A GENERIC LLM CAN'T CATCH UP</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The moat compounds with every engagement.</a:t>
            </a:r>
            <a:endParaRPr lang="en-US" sz="2800" dirty="0"/>
          </a:p>
        </p:txBody>
      </p:sp>
      <p:sp>
        <p:nvSpPr>
          <p:cNvPr id="5" name="Shape 3"/>
          <p:cNvSpPr/>
          <p:nvPr/>
        </p:nvSpPr>
        <p:spPr>
          <a:xfrm>
            <a:off x="731520" y="1920240"/>
            <a:ext cx="502920" cy="502920"/>
          </a:xfrm>
          <a:prstGeom prst="ellipse">
            <a:avLst/>
          </a:prstGeom>
          <a:solidFill>
            <a:srgbClr val="6366F1"/>
          </a:solidFill>
          <a:ln w="12700">
            <a:solidFill>
              <a:srgbClr val="6366F1"/>
            </a:solidFill>
            <a:prstDash val="solid"/>
          </a:ln>
        </p:spPr>
      </p:sp>
      <p:sp>
        <p:nvSpPr>
          <p:cNvPr id="6" name="Text 4"/>
          <p:cNvSpPr/>
          <p:nvPr/>
        </p:nvSpPr>
        <p:spPr>
          <a:xfrm>
            <a:off x="731520" y="1920240"/>
            <a:ext cx="502920" cy="502920"/>
          </a:xfrm>
          <a:prstGeom prst="rect">
            <a:avLst/>
          </a:prstGeom>
          <a:noFill/>
          <a:ln/>
        </p:spPr>
        <p:txBody>
          <a:bodyPr wrap="square"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1920240"/>
            <a:ext cx="1033272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Vertical-specific case libraries</a:t>
            </a:r>
            <a:endParaRPr lang="en-US" sz="1600" dirty="0"/>
          </a:p>
        </p:txBody>
      </p:sp>
      <p:sp>
        <p:nvSpPr>
          <p:cNvPr id="8" name="Text 6"/>
          <p:cNvSpPr/>
          <p:nvPr/>
        </p:nvSpPr>
        <p:spPr>
          <a:xfrm>
            <a:off x="1417320" y="2286000"/>
            <a:ext cx="10332720" cy="4572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Rail peers for rail clients. Banking peers for banking clients. A generic LLM mixes Tinkoff with BHP Mt. Newman — that's noise. Our retrieval matches industry / size / type / geography — never cross-vertical.</a:t>
            </a:r>
            <a:endParaRPr lang="en-US" sz="1150" dirty="0"/>
          </a:p>
        </p:txBody>
      </p:sp>
      <p:sp>
        <p:nvSpPr>
          <p:cNvPr id="9" name="Shape 7"/>
          <p:cNvSpPr/>
          <p:nvPr/>
        </p:nvSpPr>
        <p:spPr>
          <a:xfrm>
            <a:off x="731520" y="2880360"/>
            <a:ext cx="502920" cy="502920"/>
          </a:xfrm>
          <a:prstGeom prst="ellipse">
            <a:avLst/>
          </a:prstGeom>
          <a:solidFill>
            <a:srgbClr val="6366F1"/>
          </a:solidFill>
          <a:ln w="12700">
            <a:solidFill>
              <a:srgbClr val="6366F1"/>
            </a:solidFill>
            <a:prstDash val="solid"/>
          </a:ln>
        </p:spPr>
      </p:sp>
      <p:sp>
        <p:nvSpPr>
          <p:cNvPr id="10" name="Text 8"/>
          <p:cNvSpPr/>
          <p:nvPr/>
        </p:nvSpPr>
        <p:spPr>
          <a:xfrm>
            <a:off x="731520" y="2880360"/>
            <a:ext cx="502920" cy="502920"/>
          </a:xfrm>
          <a:prstGeom prst="rect">
            <a:avLst/>
          </a:prstGeom>
          <a:noFill/>
          <a:ln/>
        </p:spPr>
        <p:txBody>
          <a:bodyPr wrap="square"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417320" y="2880360"/>
            <a:ext cx="1033272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Append-only OutcomeRecord database</a:t>
            </a:r>
            <a:endParaRPr lang="en-US" sz="1600" dirty="0"/>
          </a:p>
        </p:txBody>
      </p:sp>
      <p:sp>
        <p:nvSpPr>
          <p:cNvPr id="12" name="Text 10"/>
          <p:cNvSpPr/>
          <p:nvPr/>
        </p:nvSpPr>
        <p:spPr>
          <a:xfrm>
            <a:off x="1417320" y="3246120"/>
            <a:ext cx="10332720" cy="4572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Every real engagement logs a prediction-vs-actual pair. Bayesian calibration shifts future priors. After 20 engagements we have proprietary calibration no zero-history competitor can replicate.</a:t>
            </a:r>
            <a:endParaRPr lang="en-US" sz="1150" dirty="0"/>
          </a:p>
        </p:txBody>
      </p:sp>
      <p:sp>
        <p:nvSpPr>
          <p:cNvPr id="13" name="Shape 11"/>
          <p:cNvSpPr/>
          <p:nvPr/>
        </p:nvSpPr>
        <p:spPr>
          <a:xfrm>
            <a:off x="731520" y="3840480"/>
            <a:ext cx="502920" cy="502920"/>
          </a:xfrm>
          <a:prstGeom prst="ellipse">
            <a:avLst/>
          </a:prstGeom>
          <a:solidFill>
            <a:srgbClr val="6366F1"/>
          </a:solidFill>
          <a:ln w="12700">
            <a:solidFill>
              <a:srgbClr val="6366F1"/>
            </a:solidFill>
            <a:prstDash val="solid"/>
          </a:ln>
        </p:spPr>
      </p:sp>
      <p:sp>
        <p:nvSpPr>
          <p:cNvPr id="14" name="Text 12"/>
          <p:cNvSpPr/>
          <p:nvPr/>
        </p:nvSpPr>
        <p:spPr>
          <a:xfrm>
            <a:off x="731520" y="3840480"/>
            <a:ext cx="502920" cy="502920"/>
          </a:xfrm>
          <a:prstGeom prst="rect">
            <a:avLst/>
          </a:prstGeom>
          <a:noFill/>
          <a:ln/>
        </p:spPr>
        <p:txBody>
          <a:bodyPr wrap="square"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417320" y="3840480"/>
            <a:ext cx="1033272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Failure-mode aware retrieval</a:t>
            </a:r>
            <a:endParaRPr lang="en-US" sz="1600" dirty="0"/>
          </a:p>
        </p:txBody>
      </p:sp>
      <p:sp>
        <p:nvSpPr>
          <p:cNvPr id="16" name="Text 14"/>
          <p:cNvSpPr/>
          <p:nvPr/>
        </p:nvSpPr>
        <p:spPr>
          <a:xfrm>
            <a:off x="1417320" y="4206240"/>
            <a:ext cx="10332720" cy="4572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If KTZ failed at digital booking in 2020 it's in their twin. The next scenario knows and flags similar initiatives at elevated risk. The system protects its client from repeating their own mistakes.</a:t>
            </a:r>
            <a:endParaRPr lang="en-US" sz="1150" dirty="0"/>
          </a:p>
        </p:txBody>
      </p:sp>
      <p:sp>
        <p:nvSpPr>
          <p:cNvPr id="17" name="Shape 15"/>
          <p:cNvSpPr/>
          <p:nvPr/>
        </p:nvSpPr>
        <p:spPr>
          <a:xfrm>
            <a:off x="731520" y="4800600"/>
            <a:ext cx="502920" cy="502920"/>
          </a:xfrm>
          <a:prstGeom prst="ellipse">
            <a:avLst/>
          </a:prstGeom>
          <a:solidFill>
            <a:srgbClr val="6366F1"/>
          </a:solidFill>
          <a:ln w="12700">
            <a:solidFill>
              <a:srgbClr val="6366F1"/>
            </a:solidFill>
            <a:prstDash val="solid"/>
          </a:ln>
        </p:spPr>
      </p:sp>
      <p:sp>
        <p:nvSpPr>
          <p:cNvPr id="18" name="Text 16"/>
          <p:cNvSpPr/>
          <p:nvPr/>
        </p:nvSpPr>
        <p:spPr>
          <a:xfrm>
            <a:off x="731520" y="4800600"/>
            <a:ext cx="502920" cy="502920"/>
          </a:xfrm>
          <a:prstGeom prst="rect">
            <a:avLst/>
          </a:prstGeom>
          <a:noFill/>
          <a:ln/>
        </p:spPr>
        <p:txBody>
          <a:bodyPr wrap="square"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417320" y="4800600"/>
            <a:ext cx="1033272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Region-specific (CIS / Kazakhstan) corpus</a:t>
            </a:r>
            <a:endParaRPr lang="en-US" sz="1600" dirty="0"/>
          </a:p>
        </p:txBody>
      </p:sp>
      <p:sp>
        <p:nvSpPr>
          <p:cNvPr id="20" name="Text 18"/>
          <p:cNvSpPr/>
          <p:nvPr/>
        </p:nvSpPr>
        <p:spPr>
          <a:xfrm>
            <a:off x="1417320" y="5166360"/>
            <a:ext cx="10332720" cy="4572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20 of our 54 case-library entries are CIS-region transformations including detailed Sberbank, Tinkoff, Halyk, Kazatomprom, KTZ Express. No public LLM extracts these cleanly — requires ground-truth interviews.</a:t>
            </a:r>
            <a:endParaRPr lang="en-US" sz="1150" dirty="0"/>
          </a:p>
        </p:txBody>
      </p:sp>
      <p:sp>
        <p:nvSpPr>
          <p:cNvPr id="21" name="Shape 19"/>
          <p:cNvSpPr/>
          <p:nvPr/>
        </p:nvSpPr>
        <p:spPr>
          <a:xfrm>
            <a:off x="731520" y="5760720"/>
            <a:ext cx="502920" cy="502920"/>
          </a:xfrm>
          <a:prstGeom prst="ellipse">
            <a:avLst/>
          </a:prstGeom>
          <a:solidFill>
            <a:srgbClr val="6366F1"/>
          </a:solidFill>
          <a:ln w="12700">
            <a:solidFill>
              <a:srgbClr val="6366F1"/>
            </a:solidFill>
            <a:prstDash val="solid"/>
          </a:ln>
        </p:spPr>
      </p:sp>
      <p:sp>
        <p:nvSpPr>
          <p:cNvPr id="22" name="Text 20"/>
          <p:cNvSpPr/>
          <p:nvPr/>
        </p:nvSpPr>
        <p:spPr>
          <a:xfrm>
            <a:off x="731520" y="5760720"/>
            <a:ext cx="502920" cy="502920"/>
          </a:xfrm>
          <a:prstGeom prst="rect">
            <a:avLst/>
          </a:prstGeom>
          <a:noFill/>
          <a:ln/>
        </p:spPr>
        <p:txBody>
          <a:bodyPr wrap="square" rtlCol="0" anchor="ctr"/>
          <a:lstStyle/>
          <a:p>
            <a:pPr algn="ctr" indent="0" marL="0">
              <a:buNone/>
            </a:pPr>
            <a:r>
              <a:rPr lang="en-US" sz="1800" b="1" dirty="0">
                <a:solidFill>
                  <a:srgbClr val="F1F5F9"/>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1417320" y="5760720"/>
            <a:ext cx="10332720" cy="365760"/>
          </a:xfrm>
          <a:prstGeom prst="rect">
            <a:avLst/>
          </a:prstGeom>
          <a:noFill/>
          <a:ln/>
        </p:spPr>
        <p:txBody>
          <a:bodyPr wrap="square" rtlCol="0" anchor="ctr"/>
          <a:lstStyle/>
          <a:p>
            <a:pPr indent="0" marL="0">
              <a:buNone/>
            </a:pPr>
            <a:r>
              <a:rPr lang="en-US" sz="1600" b="1" dirty="0">
                <a:solidFill>
                  <a:srgbClr val="F1F5F9"/>
                </a:solidFill>
                <a:latin typeface="Calibri" pitchFamily="34" charset="0"/>
                <a:ea typeface="Calibri" pitchFamily="34" charset="-122"/>
                <a:cs typeface="Calibri" pitchFamily="34" charset="-120"/>
              </a:rPr>
              <a:t>Open-source engine, closed-source data</a:t>
            </a:r>
            <a:endParaRPr lang="en-US" sz="1600" dirty="0"/>
          </a:p>
        </p:txBody>
      </p:sp>
      <p:sp>
        <p:nvSpPr>
          <p:cNvPr id="24" name="Text 22"/>
          <p:cNvSpPr/>
          <p:nvPr/>
        </p:nvSpPr>
        <p:spPr>
          <a:xfrm>
            <a:off x="1417320" y="6126480"/>
            <a:ext cx="10332720" cy="45720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Code is auditable on GitHub — a CFO can review the math. The moat is the curated proprietary corpus that feeds it. This combination beats opaque competitors AND open-source rivals.</a:t>
            </a:r>
            <a:endParaRPr lang="en-US" sz="1150" dirty="0"/>
          </a:p>
        </p:txBody>
      </p:sp>
      <p:sp>
        <p:nvSpPr>
          <p:cNvPr id="25" name="Text 23"/>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26" name="Text 24"/>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12</a:t>
            </a:r>
            <a:endParaRPr lang="en-US" sz="1000" dirty="0"/>
          </a:p>
        </p:txBody>
      </p:sp>
      <p:sp>
        <p:nvSpPr>
          <p:cNvPr id="27" name="Shape 25"/>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MARKET &amp; ROADMAP</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From rail to multi-vertical decision platform.</a:t>
            </a:r>
            <a:endParaRPr lang="en-US" sz="2800" dirty="0"/>
          </a:p>
        </p:txBody>
      </p:sp>
      <p:sp>
        <p:nvSpPr>
          <p:cNvPr id="5" name="Shape 3"/>
          <p:cNvSpPr/>
          <p:nvPr/>
        </p:nvSpPr>
        <p:spPr>
          <a:xfrm>
            <a:off x="731520" y="1828800"/>
            <a:ext cx="10972800" cy="731520"/>
          </a:xfrm>
          <a:prstGeom prst="roundRect">
            <a:avLst>
              <a:gd name="adj" fmla="val 7500"/>
            </a:avLst>
          </a:prstGeom>
          <a:solidFill>
            <a:srgbClr val="131A2E"/>
          </a:solidFill>
          <a:ln w="12700">
            <a:solidFill>
              <a:srgbClr val="1F2A44"/>
            </a:solidFill>
            <a:prstDash val="solid"/>
          </a:ln>
        </p:spPr>
      </p:sp>
      <p:sp>
        <p:nvSpPr>
          <p:cNvPr id="6" name="Shape 4"/>
          <p:cNvSpPr/>
          <p:nvPr/>
        </p:nvSpPr>
        <p:spPr>
          <a:xfrm>
            <a:off x="731520" y="1828800"/>
            <a:ext cx="109728" cy="731520"/>
          </a:xfrm>
          <a:prstGeom prst="rect">
            <a:avLst/>
          </a:prstGeom>
          <a:solidFill>
            <a:srgbClr val="34D399"/>
          </a:solidFill>
          <a:ln w="12700">
            <a:solidFill>
              <a:srgbClr val="34D399"/>
            </a:solidFill>
            <a:prstDash val="solid"/>
          </a:ln>
        </p:spPr>
      </p:sp>
      <p:sp>
        <p:nvSpPr>
          <p:cNvPr id="7" name="Text 5"/>
          <p:cNvSpPr/>
          <p:nvPr/>
        </p:nvSpPr>
        <p:spPr>
          <a:xfrm>
            <a:off x="1005840" y="1828800"/>
            <a:ext cx="1828800" cy="731520"/>
          </a:xfrm>
          <a:prstGeom prst="rect">
            <a:avLst/>
          </a:prstGeom>
          <a:noFill/>
          <a:ln/>
        </p:spPr>
        <p:txBody>
          <a:bodyPr wrap="square"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Railway</a:t>
            </a:r>
            <a:endParaRPr lang="en-US" sz="1800" dirty="0"/>
          </a:p>
        </p:txBody>
      </p:sp>
      <p:sp>
        <p:nvSpPr>
          <p:cNvPr id="8" name="Shape 6"/>
          <p:cNvSpPr/>
          <p:nvPr/>
        </p:nvSpPr>
        <p:spPr>
          <a:xfrm>
            <a:off x="2743200" y="2011680"/>
            <a:ext cx="1371600" cy="365760"/>
          </a:xfrm>
          <a:prstGeom prst="roundRect">
            <a:avLst>
              <a:gd name="adj" fmla="val 10000"/>
            </a:avLst>
          </a:prstGeom>
          <a:solidFill>
            <a:srgbClr val="34D399">
              <a:alpha val="20000"/>
            </a:srgbClr>
          </a:solidFill>
          <a:ln w="12700">
            <a:solidFill>
              <a:srgbClr val="34D399">
                <a:alpha val="50000"/>
              </a:srgbClr>
            </a:solidFill>
            <a:prstDash val="solid"/>
          </a:ln>
        </p:spPr>
      </p:sp>
      <p:sp>
        <p:nvSpPr>
          <p:cNvPr id="9" name="Text 7"/>
          <p:cNvSpPr/>
          <p:nvPr/>
        </p:nvSpPr>
        <p:spPr>
          <a:xfrm>
            <a:off x="2743200" y="2011680"/>
            <a:ext cx="1371600" cy="365760"/>
          </a:xfrm>
          <a:prstGeom prst="rect">
            <a:avLst/>
          </a:prstGeom>
          <a:noFill/>
          <a:ln/>
        </p:spPr>
        <p:txBody>
          <a:bodyPr wrap="square" rtlCol="0" anchor="ctr"/>
          <a:lstStyle/>
          <a:p>
            <a:pPr algn="ctr" indent="0" marL="0">
              <a:buNone/>
            </a:pPr>
            <a:r>
              <a:rPr lang="en-US" sz="1100" b="1" dirty="0">
                <a:solidFill>
                  <a:srgbClr val="34D399"/>
                </a:solidFill>
                <a:latin typeface="Calibri" pitchFamily="34" charset="0"/>
                <a:ea typeface="Calibri" pitchFamily="34" charset="-122"/>
                <a:cs typeface="Calibri" pitchFamily="34" charset="-120"/>
              </a:rPr>
              <a:t>LIVE</a:t>
            </a:r>
            <a:endParaRPr lang="en-US" sz="1100" dirty="0"/>
          </a:p>
        </p:txBody>
      </p:sp>
      <p:sp>
        <p:nvSpPr>
          <p:cNvPr id="10" name="Text 8"/>
          <p:cNvSpPr/>
          <p:nvPr/>
        </p:nvSpPr>
        <p:spPr>
          <a:xfrm>
            <a:off x="4389120" y="1828800"/>
            <a:ext cx="3657600" cy="7315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Anchor: KTZ pilot</a:t>
            </a:r>
            <a:endParaRPr lang="en-US" sz="1200" dirty="0"/>
          </a:p>
        </p:txBody>
      </p:sp>
      <p:sp>
        <p:nvSpPr>
          <p:cNvPr id="11" name="Text 9"/>
          <p:cNvSpPr/>
          <p:nvPr/>
        </p:nvSpPr>
        <p:spPr>
          <a:xfrm>
            <a:off x="8046720" y="1828800"/>
            <a:ext cx="3657600" cy="731520"/>
          </a:xfrm>
          <a:prstGeom prst="rect">
            <a:avLst/>
          </a:prstGeom>
          <a:noFill/>
          <a:ln/>
        </p:spPr>
        <p:txBody>
          <a:bodyPr wrap="square" rtlCol="0" anchor="ctr"/>
          <a:lstStyle/>
          <a:p>
            <a:pPr algn="r" indent="0" marL="0">
              <a:buNone/>
            </a:pPr>
            <a:r>
              <a:rPr lang="en-US" sz="1200" dirty="0">
                <a:solidFill>
                  <a:srgbClr val="94A3B8"/>
                </a:solidFill>
                <a:latin typeface="Consolas" pitchFamily="34" charset="0"/>
                <a:ea typeface="Consolas" pitchFamily="34" charset="-122"/>
                <a:cs typeface="Consolas" pitchFamily="34" charset="-120"/>
              </a:rPr>
              <a:t>$80B global capex/y</a:t>
            </a:r>
            <a:endParaRPr lang="en-US" sz="1200" dirty="0"/>
          </a:p>
        </p:txBody>
      </p:sp>
      <p:sp>
        <p:nvSpPr>
          <p:cNvPr id="12" name="Shape 10"/>
          <p:cNvSpPr/>
          <p:nvPr/>
        </p:nvSpPr>
        <p:spPr>
          <a:xfrm>
            <a:off x="731520" y="2697480"/>
            <a:ext cx="10972800" cy="731520"/>
          </a:xfrm>
          <a:prstGeom prst="roundRect">
            <a:avLst>
              <a:gd name="adj" fmla="val 7500"/>
            </a:avLst>
          </a:prstGeom>
          <a:solidFill>
            <a:srgbClr val="131A2E"/>
          </a:solidFill>
          <a:ln w="12700">
            <a:solidFill>
              <a:srgbClr val="1F2A44"/>
            </a:solidFill>
            <a:prstDash val="solid"/>
          </a:ln>
        </p:spPr>
      </p:sp>
      <p:sp>
        <p:nvSpPr>
          <p:cNvPr id="13" name="Shape 11"/>
          <p:cNvSpPr/>
          <p:nvPr/>
        </p:nvSpPr>
        <p:spPr>
          <a:xfrm>
            <a:off x="731520" y="2697480"/>
            <a:ext cx="109728" cy="731520"/>
          </a:xfrm>
          <a:prstGeom prst="rect">
            <a:avLst/>
          </a:prstGeom>
          <a:solidFill>
            <a:srgbClr val="22D3EE"/>
          </a:solidFill>
          <a:ln w="12700">
            <a:solidFill>
              <a:srgbClr val="22D3EE"/>
            </a:solidFill>
            <a:prstDash val="solid"/>
          </a:ln>
        </p:spPr>
      </p:sp>
      <p:sp>
        <p:nvSpPr>
          <p:cNvPr id="14" name="Text 12"/>
          <p:cNvSpPr/>
          <p:nvPr/>
        </p:nvSpPr>
        <p:spPr>
          <a:xfrm>
            <a:off x="1005840" y="2697480"/>
            <a:ext cx="1828800" cy="731520"/>
          </a:xfrm>
          <a:prstGeom prst="rect">
            <a:avLst/>
          </a:prstGeom>
          <a:noFill/>
          <a:ln/>
        </p:spPr>
        <p:txBody>
          <a:bodyPr wrap="square"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Banking</a:t>
            </a:r>
            <a:endParaRPr lang="en-US" sz="1800" dirty="0"/>
          </a:p>
        </p:txBody>
      </p:sp>
      <p:sp>
        <p:nvSpPr>
          <p:cNvPr id="15" name="Shape 13"/>
          <p:cNvSpPr/>
          <p:nvPr/>
        </p:nvSpPr>
        <p:spPr>
          <a:xfrm>
            <a:off x="2743200" y="2880360"/>
            <a:ext cx="1371600" cy="365760"/>
          </a:xfrm>
          <a:prstGeom prst="roundRect">
            <a:avLst>
              <a:gd name="adj" fmla="val 10000"/>
            </a:avLst>
          </a:prstGeom>
          <a:solidFill>
            <a:srgbClr val="22D3EE">
              <a:alpha val="20000"/>
            </a:srgbClr>
          </a:solidFill>
          <a:ln w="12700">
            <a:solidFill>
              <a:srgbClr val="22D3EE">
                <a:alpha val="50000"/>
              </a:srgbClr>
            </a:solidFill>
            <a:prstDash val="solid"/>
          </a:ln>
        </p:spPr>
      </p:sp>
      <p:sp>
        <p:nvSpPr>
          <p:cNvPr id="16" name="Text 14"/>
          <p:cNvSpPr/>
          <p:nvPr/>
        </p:nvSpPr>
        <p:spPr>
          <a:xfrm>
            <a:off x="2743200" y="2880360"/>
            <a:ext cx="1371600" cy="365760"/>
          </a:xfrm>
          <a:prstGeom prst="rect">
            <a:avLst/>
          </a:prstGeom>
          <a:noFill/>
          <a:ln/>
        </p:spPr>
        <p:txBody>
          <a:bodyPr wrap="square" rtlCol="0" anchor="ctr"/>
          <a:lstStyle/>
          <a:p>
            <a:pPr algn="ctr" indent="0" marL="0">
              <a:buNone/>
            </a:pPr>
            <a:r>
              <a:rPr lang="en-US" sz="1100" b="1" dirty="0">
                <a:solidFill>
                  <a:srgbClr val="22D3EE"/>
                </a:solidFill>
                <a:latin typeface="Calibri" pitchFamily="34" charset="0"/>
                <a:ea typeface="Calibri" pitchFamily="34" charset="-122"/>
                <a:cs typeface="Calibri" pitchFamily="34" charset="-120"/>
              </a:rPr>
              <a:t>Q3 2026</a:t>
            </a:r>
            <a:endParaRPr lang="en-US" sz="1100" dirty="0"/>
          </a:p>
        </p:txBody>
      </p:sp>
      <p:sp>
        <p:nvSpPr>
          <p:cNvPr id="17" name="Text 15"/>
          <p:cNvSpPr/>
          <p:nvPr/>
        </p:nvSpPr>
        <p:spPr>
          <a:xfrm>
            <a:off x="4389120" y="2697480"/>
            <a:ext cx="3657600" cy="7315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Anchor: Kaspi / Halyk</a:t>
            </a:r>
            <a:endParaRPr lang="en-US" sz="1200" dirty="0"/>
          </a:p>
        </p:txBody>
      </p:sp>
      <p:sp>
        <p:nvSpPr>
          <p:cNvPr id="18" name="Text 16"/>
          <p:cNvSpPr/>
          <p:nvPr/>
        </p:nvSpPr>
        <p:spPr>
          <a:xfrm>
            <a:off x="8046720" y="2697480"/>
            <a:ext cx="3657600" cy="731520"/>
          </a:xfrm>
          <a:prstGeom prst="rect">
            <a:avLst/>
          </a:prstGeom>
          <a:noFill/>
          <a:ln/>
        </p:spPr>
        <p:txBody>
          <a:bodyPr wrap="square" rtlCol="0" anchor="ctr"/>
          <a:lstStyle/>
          <a:p>
            <a:pPr algn="r" indent="0" marL="0">
              <a:buNone/>
            </a:pPr>
            <a:r>
              <a:rPr lang="en-US" sz="1200" dirty="0">
                <a:solidFill>
                  <a:srgbClr val="94A3B8"/>
                </a:solidFill>
                <a:latin typeface="Consolas" pitchFamily="34" charset="0"/>
                <a:ea typeface="Consolas" pitchFamily="34" charset="-122"/>
                <a:cs typeface="Consolas" pitchFamily="34" charset="-120"/>
              </a:rPr>
              <a:t>$310B digital transform spend</a:t>
            </a:r>
            <a:endParaRPr lang="en-US" sz="1200" dirty="0"/>
          </a:p>
        </p:txBody>
      </p:sp>
      <p:sp>
        <p:nvSpPr>
          <p:cNvPr id="19" name="Shape 17"/>
          <p:cNvSpPr/>
          <p:nvPr/>
        </p:nvSpPr>
        <p:spPr>
          <a:xfrm>
            <a:off x="731520" y="3566160"/>
            <a:ext cx="10972800" cy="731520"/>
          </a:xfrm>
          <a:prstGeom prst="roundRect">
            <a:avLst>
              <a:gd name="adj" fmla="val 7500"/>
            </a:avLst>
          </a:prstGeom>
          <a:solidFill>
            <a:srgbClr val="131A2E"/>
          </a:solidFill>
          <a:ln w="12700">
            <a:solidFill>
              <a:srgbClr val="1F2A44"/>
            </a:solidFill>
            <a:prstDash val="solid"/>
          </a:ln>
        </p:spPr>
      </p:sp>
      <p:sp>
        <p:nvSpPr>
          <p:cNvPr id="20" name="Shape 18"/>
          <p:cNvSpPr/>
          <p:nvPr/>
        </p:nvSpPr>
        <p:spPr>
          <a:xfrm>
            <a:off x="731520" y="3566160"/>
            <a:ext cx="109728" cy="731520"/>
          </a:xfrm>
          <a:prstGeom prst="rect">
            <a:avLst/>
          </a:prstGeom>
          <a:solidFill>
            <a:srgbClr val="818CF8"/>
          </a:solidFill>
          <a:ln w="12700">
            <a:solidFill>
              <a:srgbClr val="818CF8"/>
            </a:solidFill>
            <a:prstDash val="solid"/>
          </a:ln>
        </p:spPr>
      </p:sp>
      <p:sp>
        <p:nvSpPr>
          <p:cNvPr id="21" name="Text 19"/>
          <p:cNvSpPr/>
          <p:nvPr/>
        </p:nvSpPr>
        <p:spPr>
          <a:xfrm>
            <a:off x="1005840" y="3566160"/>
            <a:ext cx="1828800" cy="731520"/>
          </a:xfrm>
          <a:prstGeom prst="rect">
            <a:avLst/>
          </a:prstGeom>
          <a:noFill/>
          <a:ln/>
        </p:spPr>
        <p:txBody>
          <a:bodyPr wrap="square"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Oil &amp; Gas</a:t>
            </a:r>
            <a:endParaRPr lang="en-US" sz="1800" dirty="0"/>
          </a:p>
        </p:txBody>
      </p:sp>
      <p:sp>
        <p:nvSpPr>
          <p:cNvPr id="22" name="Shape 20"/>
          <p:cNvSpPr/>
          <p:nvPr/>
        </p:nvSpPr>
        <p:spPr>
          <a:xfrm>
            <a:off x="2743200" y="3749040"/>
            <a:ext cx="1371600" cy="365760"/>
          </a:xfrm>
          <a:prstGeom prst="roundRect">
            <a:avLst>
              <a:gd name="adj" fmla="val 10000"/>
            </a:avLst>
          </a:prstGeom>
          <a:solidFill>
            <a:srgbClr val="818CF8">
              <a:alpha val="20000"/>
            </a:srgbClr>
          </a:solidFill>
          <a:ln w="12700">
            <a:solidFill>
              <a:srgbClr val="818CF8">
                <a:alpha val="50000"/>
              </a:srgbClr>
            </a:solidFill>
            <a:prstDash val="solid"/>
          </a:ln>
        </p:spPr>
      </p:sp>
      <p:sp>
        <p:nvSpPr>
          <p:cNvPr id="23" name="Text 21"/>
          <p:cNvSpPr/>
          <p:nvPr/>
        </p:nvSpPr>
        <p:spPr>
          <a:xfrm>
            <a:off x="2743200" y="3749040"/>
            <a:ext cx="1371600" cy="365760"/>
          </a:xfrm>
          <a:prstGeom prst="rect">
            <a:avLst/>
          </a:prstGeom>
          <a:noFill/>
          <a:ln/>
        </p:spPr>
        <p:txBody>
          <a:bodyPr wrap="square" rtlCol="0" anchor="ctr"/>
          <a:lstStyle/>
          <a:p>
            <a:pPr algn="ctr" indent="0" marL="0">
              <a:buNone/>
            </a:pPr>
            <a:r>
              <a:rPr lang="en-US" sz="1100" b="1" dirty="0">
                <a:solidFill>
                  <a:srgbClr val="818CF8"/>
                </a:solidFill>
                <a:latin typeface="Calibri" pitchFamily="34" charset="0"/>
                <a:ea typeface="Calibri" pitchFamily="34" charset="-122"/>
                <a:cs typeface="Calibri" pitchFamily="34" charset="-120"/>
              </a:rPr>
              <a:t>Q4 2026</a:t>
            </a:r>
            <a:endParaRPr lang="en-US" sz="1100" dirty="0"/>
          </a:p>
        </p:txBody>
      </p:sp>
      <p:sp>
        <p:nvSpPr>
          <p:cNvPr id="24" name="Text 22"/>
          <p:cNvSpPr/>
          <p:nvPr/>
        </p:nvSpPr>
        <p:spPr>
          <a:xfrm>
            <a:off x="4389120" y="3566160"/>
            <a:ext cx="3657600" cy="7315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Anchor: KazMunayGas / Aramco</a:t>
            </a:r>
            <a:endParaRPr lang="en-US" sz="1200" dirty="0"/>
          </a:p>
        </p:txBody>
      </p:sp>
      <p:sp>
        <p:nvSpPr>
          <p:cNvPr id="25" name="Text 23"/>
          <p:cNvSpPr/>
          <p:nvPr/>
        </p:nvSpPr>
        <p:spPr>
          <a:xfrm>
            <a:off x="8046720" y="3566160"/>
            <a:ext cx="3657600" cy="731520"/>
          </a:xfrm>
          <a:prstGeom prst="rect">
            <a:avLst/>
          </a:prstGeom>
          <a:noFill/>
          <a:ln/>
        </p:spPr>
        <p:txBody>
          <a:bodyPr wrap="square" rtlCol="0" anchor="ctr"/>
          <a:lstStyle/>
          <a:p>
            <a:pPr algn="r" indent="0" marL="0">
              <a:buNone/>
            </a:pPr>
            <a:r>
              <a:rPr lang="en-US" sz="1200" dirty="0">
                <a:solidFill>
                  <a:srgbClr val="94A3B8"/>
                </a:solidFill>
                <a:latin typeface="Consolas" pitchFamily="34" charset="0"/>
                <a:ea typeface="Consolas" pitchFamily="34" charset="-122"/>
                <a:cs typeface="Consolas" pitchFamily="34" charset="-120"/>
              </a:rPr>
              <a:t>$140B upstream digital</a:t>
            </a:r>
            <a:endParaRPr lang="en-US" sz="1200" dirty="0"/>
          </a:p>
        </p:txBody>
      </p:sp>
      <p:sp>
        <p:nvSpPr>
          <p:cNvPr id="26" name="Shape 24"/>
          <p:cNvSpPr/>
          <p:nvPr/>
        </p:nvSpPr>
        <p:spPr>
          <a:xfrm>
            <a:off x="731520" y="4434840"/>
            <a:ext cx="10972800" cy="731520"/>
          </a:xfrm>
          <a:prstGeom prst="roundRect">
            <a:avLst>
              <a:gd name="adj" fmla="val 7500"/>
            </a:avLst>
          </a:prstGeom>
          <a:solidFill>
            <a:srgbClr val="131A2E"/>
          </a:solidFill>
          <a:ln w="12700">
            <a:solidFill>
              <a:srgbClr val="1F2A44"/>
            </a:solidFill>
            <a:prstDash val="solid"/>
          </a:ln>
        </p:spPr>
      </p:sp>
      <p:sp>
        <p:nvSpPr>
          <p:cNvPr id="27" name="Shape 25"/>
          <p:cNvSpPr/>
          <p:nvPr/>
        </p:nvSpPr>
        <p:spPr>
          <a:xfrm>
            <a:off x="731520" y="4434840"/>
            <a:ext cx="109728" cy="731520"/>
          </a:xfrm>
          <a:prstGeom prst="rect">
            <a:avLst/>
          </a:prstGeom>
          <a:solidFill>
            <a:srgbClr val="FBBF24"/>
          </a:solidFill>
          <a:ln w="12700">
            <a:solidFill>
              <a:srgbClr val="FBBF24"/>
            </a:solidFill>
            <a:prstDash val="solid"/>
          </a:ln>
        </p:spPr>
      </p:sp>
      <p:sp>
        <p:nvSpPr>
          <p:cNvPr id="28" name="Text 26"/>
          <p:cNvSpPr/>
          <p:nvPr/>
        </p:nvSpPr>
        <p:spPr>
          <a:xfrm>
            <a:off x="1005840" y="4434840"/>
            <a:ext cx="1828800" cy="731520"/>
          </a:xfrm>
          <a:prstGeom prst="rect">
            <a:avLst/>
          </a:prstGeom>
          <a:noFill/>
          <a:ln/>
        </p:spPr>
        <p:txBody>
          <a:bodyPr wrap="square"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Mining</a:t>
            </a:r>
            <a:endParaRPr lang="en-US" sz="1800" dirty="0"/>
          </a:p>
        </p:txBody>
      </p:sp>
      <p:sp>
        <p:nvSpPr>
          <p:cNvPr id="29" name="Shape 27"/>
          <p:cNvSpPr/>
          <p:nvPr/>
        </p:nvSpPr>
        <p:spPr>
          <a:xfrm>
            <a:off x="2743200" y="4617720"/>
            <a:ext cx="1371600" cy="365760"/>
          </a:xfrm>
          <a:prstGeom prst="roundRect">
            <a:avLst>
              <a:gd name="adj" fmla="val 10000"/>
            </a:avLst>
          </a:prstGeom>
          <a:solidFill>
            <a:srgbClr val="FBBF24">
              <a:alpha val="20000"/>
            </a:srgbClr>
          </a:solidFill>
          <a:ln w="12700">
            <a:solidFill>
              <a:srgbClr val="FBBF24">
                <a:alpha val="50000"/>
              </a:srgbClr>
            </a:solidFill>
            <a:prstDash val="solid"/>
          </a:ln>
        </p:spPr>
      </p:sp>
      <p:sp>
        <p:nvSpPr>
          <p:cNvPr id="30" name="Text 28"/>
          <p:cNvSpPr/>
          <p:nvPr/>
        </p:nvSpPr>
        <p:spPr>
          <a:xfrm>
            <a:off x="2743200" y="4617720"/>
            <a:ext cx="1371600" cy="365760"/>
          </a:xfrm>
          <a:prstGeom prst="rect">
            <a:avLst/>
          </a:prstGeom>
          <a:noFill/>
          <a:ln/>
        </p:spPr>
        <p:txBody>
          <a:bodyPr wrap="square" rtlCol="0" anchor="ctr"/>
          <a:lstStyle/>
          <a:p>
            <a:pPr algn="ctr" indent="0" marL="0">
              <a:buNone/>
            </a:pPr>
            <a:r>
              <a:rPr lang="en-US" sz="1100" b="1" dirty="0">
                <a:solidFill>
                  <a:srgbClr val="FBBF24"/>
                </a:solidFill>
                <a:latin typeface="Calibri" pitchFamily="34" charset="0"/>
                <a:ea typeface="Calibri" pitchFamily="34" charset="-122"/>
                <a:cs typeface="Calibri" pitchFamily="34" charset="-120"/>
              </a:rPr>
              <a:t>Q1 2027</a:t>
            </a:r>
            <a:endParaRPr lang="en-US" sz="1100" dirty="0"/>
          </a:p>
        </p:txBody>
      </p:sp>
      <p:sp>
        <p:nvSpPr>
          <p:cNvPr id="31" name="Text 29"/>
          <p:cNvSpPr/>
          <p:nvPr/>
        </p:nvSpPr>
        <p:spPr>
          <a:xfrm>
            <a:off x="4389120" y="4434840"/>
            <a:ext cx="3657600" cy="7315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Anchor: Kazatomprom / Polyus</a:t>
            </a:r>
            <a:endParaRPr lang="en-US" sz="1200" dirty="0"/>
          </a:p>
        </p:txBody>
      </p:sp>
      <p:sp>
        <p:nvSpPr>
          <p:cNvPr id="32" name="Text 30"/>
          <p:cNvSpPr/>
          <p:nvPr/>
        </p:nvSpPr>
        <p:spPr>
          <a:xfrm>
            <a:off x="8046720" y="4434840"/>
            <a:ext cx="3657600" cy="731520"/>
          </a:xfrm>
          <a:prstGeom prst="rect">
            <a:avLst/>
          </a:prstGeom>
          <a:noFill/>
          <a:ln/>
        </p:spPr>
        <p:txBody>
          <a:bodyPr wrap="square" rtlCol="0" anchor="ctr"/>
          <a:lstStyle/>
          <a:p>
            <a:pPr algn="r" indent="0" marL="0">
              <a:buNone/>
            </a:pPr>
            <a:r>
              <a:rPr lang="en-US" sz="1200" dirty="0">
                <a:solidFill>
                  <a:srgbClr val="94A3B8"/>
                </a:solidFill>
                <a:latin typeface="Consolas" pitchFamily="34" charset="0"/>
                <a:ea typeface="Consolas" pitchFamily="34" charset="-122"/>
                <a:cs typeface="Consolas" pitchFamily="34" charset="-120"/>
              </a:rPr>
              <a:t>$60B autonomous &amp; ESG</a:t>
            </a:r>
            <a:endParaRPr lang="en-US" sz="1200" dirty="0"/>
          </a:p>
        </p:txBody>
      </p:sp>
      <p:sp>
        <p:nvSpPr>
          <p:cNvPr id="33" name="Shape 31"/>
          <p:cNvSpPr/>
          <p:nvPr/>
        </p:nvSpPr>
        <p:spPr>
          <a:xfrm>
            <a:off x="731520" y="5303520"/>
            <a:ext cx="10972800" cy="731520"/>
          </a:xfrm>
          <a:prstGeom prst="roundRect">
            <a:avLst>
              <a:gd name="adj" fmla="val 7500"/>
            </a:avLst>
          </a:prstGeom>
          <a:solidFill>
            <a:srgbClr val="131A2E"/>
          </a:solidFill>
          <a:ln w="12700">
            <a:solidFill>
              <a:srgbClr val="1F2A44"/>
            </a:solidFill>
            <a:prstDash val="solid"/>
          </a:ln>
        </p:spPr>
      </p:sp>
      <p:sp>
        <p:nvSpPr>
          <p:cNvPr id="34" name="Shape 32"/>
          <p:cNvSpPr/>
          <p:nvPr/>
        </p:nvSpPr>
        <p:spPr>
          <a:xfrm>
            <a:off x="731520" y="5303520"/>
            <a:ext cx="109728" cy="731520"/>
          </a:xfrm>
          <a:prstGeom prst="rect">
            <a:avLst/>
          </a:prstGeom>
          <a:solidFill>
            <a:srgbClr val="F87171"/>
          </a:solidFill>
          <a:ln w="12700">
            <a:solidFill>
              <a:srgbClr val="F87171"/>
            </a:solidFill>
            <a:prstDash val="solid"/>
          </a:ln>
        </p:spPr>
      </p:sp>
      <p:sp>
        <p:nvSpPr>
          <p:cNvPr id="35" name="Text 33"/>
          <p:cNvSpPr/>
          <p:nvPr/>
        </p:nvSpPr>
        <p:spPr>
          <a:xfrm>
            <a:off x="1005840" y="5303520"/>
            <a:ext cx="1828800" cy="731520"/>
          </a:xfrm>
          <a:prstGeom prst="rect">
            <a:avLst/>
          </a:prstGeom>
          <a:noFill/>
          <a:ln/>
        </p:spPr>
        <p:txBody>
          <a:bodyPr wrap="square" rtlCol="0" anchor="ctr"/>
          <a:lstStyle/>
          <a:p>
            <a:pPr indent="0" marL="0">
              <a:buNone/>
            </a:pPr>
            <a:r>
              <a:rPr lang="en-US" sz="1800" b="1" dirty="0">
                <a:solidFill>
                  <a:srgbClr val="F1F5F9"/>
                </a:solidFill>
                <a:latin typeface="Calibri" pitchFamily="34" charset="0"/>
                <a:ea typeface="Calibri" pitchFamily="34" charset="-122"/>
                <a:cs typeface="Calibri" pitchFamily="34" charset="-120"/>
              </a:rPr>
              <a:t>Utilities</a:t>
            </a:r>
            <a:endParaRPr lang="en-US" sz="1800" dirty="0"/>
          </a:p>
        </p:txBody>
      </p:sp>
      <p:sp>
        <p:nvSpPr>
          <p:cNvPr id="36" name="Shape 34"/>
          <p:cNvSpPr/>
          <p:nvPr/>
        </p:nvSpPr>
        <p:spPr>
          <a:xfrm>
            <a:off x="2743200" y="5486400"/>
            <a:ext cx="1371600" cy="365760"/>
          </a:xfrm>
          <a:prstGeom prst="roundRect">
            <a:avLst>
              <a:gd name="adj" fmla="val 10000"/>
            </a:avLst>
          </a:prstGeom>
          <a:solidFill>
            <a:srgbClr val="F87171">
              <a:alpha val="20000"/>
            </a:srgbClr>
          </a:solidFill>
          <a:ln w="12700">
            <a:solidFill>
              <a:srgbClr val="F87171">
                <a:alpha val="50000"/>
              </a:srgbClr>
            </a:solidFill>
            <a:prstDash val="solid"/>
          </a:ln>
        </p:spPr>
      </p:sp>
      <p:sp>
        <p:nvSpPr>
          <p:cNvPr id="37" name="Text 35"/>
          <p:cNvSpPr/>
          <p:nvPr/>
        </p:nvSpPr>
        <p:spPr>
          <a:xfrm>
            <a:off x="2743200" y="5486400"/>
            <a:ext cx="1371600" cy="365760"/>
          </a:xfrm>
          <a:prstGeom prst="rect">
            <a:avLst/>
          </a:prstGeom>
          <a:noFill/>
          <a:ln/>
        </p:spPr>
        <p:txBody>
          <a:bodyPr wrap="square" rtlCol="0" anchor="ctr"/>
          <a:lstStyle/>
          <a:p>
            <a:pPr algn="ctr" indent="0" marL="0">
              <a:buNone/>
            </a:pPr>
            <a:r>
              <a:rPr lang="en-US" sz="1100" b="1" dirty="0">
                <a:solidFill>
                  <a:srgbClr val="F87171"/>
                </a:solidFill>
                <a:latin typeface="Calibri" pitchFamily="34" charset="0"/>
                <a:ea typeface="Calibri" pitchFamily="34" charset="-122"/>
                <a:cs typeface="Calibri" pitchFamily="34" charset="-120"/>
              </a:rPr>
              <a:t>Q2 2027</a:t>
            </a:r>
            <a:endParaRPr lang="en-US" sz="1100" dirty="0"/>
          </a:p>
        </p:txBody>
      </p:sp>
      <p:sp>
        <p:nvSpPr>
          <p:cNvPr id="38" name="Text 36"/>
          <p:cNvSpPr/>
          <p:nvPr/>
        </p:nvSpPr>
        <p:spPr>
          <a:xfrm>
            <a:off x="4389120" y="5303520"/>
            <a:ext cx="3657600" cy="73152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Anchor: KEGOC / Rosseti</a:t>
            </a:r>
            <a:endParaRPr lang="en-US" sz="1200" dirty="0"/>
          </a:p>
        </p:txBody>
      </p:sp>
      <p:sp>
        <p:nvSpPr>
          <p:cNvPr id="39" name="Text 37"/>
          <p:cNvSpPr/>
          <p:nvPr/>
        </p:nvSpPr>
        <p:spPr>
          <a:xfrm>
            <a:off x="8046720" y="5303520"/>
            <a:ext cx="3657600" cy="731520"/>
          </a:xfrm>
          <a:prstGeom prst="rect">
            <a:avLst/>
          </a:prstGeom>
          <a:noFill/>
          <a:ln/>
        </p:spPr>
        <p:txBody>
          <a:bodyPr wrap="square" rtlCol="0" anchor="ctr"/>
          <a:lstStyle/>
          <a:p>
            <a:pPr algn="r" indent="0" marL="0">
              <a:buNone/>
            </a:pPr>
            <a:r>
              <a:rPr lang="en-US" sz="1200" dirty="0">
                <a:solidFill>
                  <a:srgbClr val="94A3B8"/>
                </a:solidFill>
                <a:latin typeface="Consolas" pitchFamily="34" charset="0"/>
                <a:ea typeface="Consolas" pitchFamily="34" charset="-122"/>
                <a:cs typeface="Consolas" pitchFamily="34" charset="-120"/>
              </a:rPr>
              <a:t>$220B grid modernization</a:t>
            </a:r>
            <a:endParaRPr lang="en-US" sz="1200" dirty="0"/>
          </a:p>
        </p:txBody>
      </p:sp>
      <p:sp>
        <p:nvSpPr>
          <p:cNvPr id="40" name="Text 38"/>
          <p:cNvSpPr/>
          <p:nvPr/>
        </p:nvSpPr>
        <p:spPr>
          <a:xfrm>
            <a:off x="731520" y="6217920"/>
            <a:ext cx="10972800" cy="457200"/>
          </a:xfrm>
          <a:prstGeom prst="rect">
            <a:avLst/>
          </a:prstGeom>
          <a:noFill/>
          <a:ln/>
        </p:spPr>
        <p:txBody>
          <a:bodyPr wrap="square"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Each vertical reuses the engine. New vertical = 18 peer cases + 40 scenarios + entity graph. ~6 weeks per launch.</a:t>
            </a:r>
            <a:endParaRPr lang="en-US" sz="1200" dirty="0"/>
          </a:p>
          <a:p>
            <a:pPr indent="0" marL="0">
              <a:buNone/>
            </a:pPr>
            <a:r>
              <a:rPr lang="en-US" sz="1200" i="1" dirty="0">
                <a:solidFill>
                  <a:srgbClr val="94A3B8"/>
                </a:solidFill>
                <a:latin typeface="Calibri" pitchFamily="34" charset="0"/>
                <a:ea typeface="Calibri" pitchFamily="34" charset="-122"/>
                <a:cs typeface="Calibri" pitchFamily="34" charset="-120"/>
              </a:rPr>
              <a:t>We're not selling 'AI'. We're selling decision infrastructure that scales by industry.</a:t>
            </a:r>
            <a:endParaRPr lang="en-US" sz="1200" dirty="0"/>
          </a:p>
        </p:txBody>
      </p:sp>
      <p:sp>
        <p:nvSpPr>
          <p:cNvPr id="41" name="Text 39"/>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42" name="Text 40"/>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12</a:t>
            </a:r>
            <a:endParaRPr lang="en-US" sz="1000" dirty="0"/>
          </a:p>
        </p:txBody>
      </p:sp>
      <p:sp>
        <p:nvSpPr>
          <p:cNvPr id="43" name="Shape 41"/>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BUSINESS MODEL</a:t>
            </a:r>
            <a:endParaRPr lang="en-US" sz="1000" dirty="0"/>
          </a:p>
        </p:txBody>
      </p:sp>
      <p:sp>
        <p:nvSpPr>
          <p:cNvPr id="4" name="Text 2"/>
          <p:cNvSpPr/>
          <p:nvPr/>
        </p:nvSpPr>
        <p:spPr>
          <a:xfrm>
            <a:off x="731520" y="1005840"/>
            <a:ext cx="10972800" cy="548640"/>
          </a:xfrm>
          <a:prstGeom prst="rect">
            <a:avLst/>
          </a:prstGeom>
          <a:noFill/>
          <a:ln/>
        </p:spPr>
        <p:txBody>
          <a:bodyPr wrap="square" rtlCol="0" anchor="ctr"/>
          <a:lstStyle/>
          <a:p>
            <a:pPr indent="0" marL="0">
              <a:buNone/>
            </a:pPr>
            <a:r>
              <a:rPr lang="en-US" sz="2800" b="1" dirty="0">
                <a:solidFill>
                  <a:srgbClr val="F1F5F9"/>
                </a:solidFill>
                <a:latin typeface="Calibri" pitchFamily="34" charset="0"/>
                <a:ea typeface="Calibri" pitchFamily="34" charset="-122"/>
                <a:cs typeface="Calibri" pitchFamily="34" charset="-120"/>
              </a:rPr>
              <a:t>Three revenue streams. CFO-friendly economics.</a:t>
            </a:r>
            <a:endParaRPr lang="en-US" sz="2800" dirty="0"/>
          </a:p>
        </p:txBody>
      </p:sp>
      <p:sp>
        <p:nvSpPr>
          <p:cNvPr id="5" name="Shape 3"/>
          <p:cNvSpPr/>
          <p:nvPr/>
        </p:nvSpPr>
        <p:spPr>
          <a:xfrm>
            <a:off x="731520" y="1828800"/>
            <a:ext cx="3474720" cy="4114800"/>
          </a:xfrm>
          <a:prstGeom prst="roundRect">
            <a:avLst>
              <a:gd name="adj" fmla="val 3158"/>
            </a:avLst>
          </a:prstGeom>
          <a:solidFill>
            <a:srgbClr val="1F2A44"/>
          </a:solidFill>
          <a:ln w="25400">
            <a:solidFill>
              <a:srgbClr val="818CF8"/>
            </a:solidFill>
            <a:prstDash val="solid"/>
          </a:ln>
        </p:spPr>
      </p:sp>
      <p:sp>
        <p:nvSpPr>
          <p:cNvPr id="6" name="Text 4"/>
          <p:cNvSpPr/>
          <p:nvPr/>
        </p:nvSpPr>
        <p:spPr>
          <a:xfrm>
            <a:off x="914400" y="2011680"/>
            <a:ext cx="3108960" cy="365760"/>
          </a:xfrm>
          <a:prstGeom prst="rect">
            <a:avLst/>
          </a:prstGeom>
          <a:noFill/>
          <a:ln/>
        </p:spPr>
        <p:txBody>
          <a:bodyPr wrap="square" rtlCol="0" anchor="ctr"/>
          <a:lstStyle/>
          <a:p>
            <a:pPr indent="0" marL="0">
              <a:buNone/>
            </a:pPr>
            <a:r>
              <a:rPr lang="en-US" sz="1300" b="1" spc="200" kern="0" dirty="0">
                <a:solidFill>
                  <a:srgbClr val="818CF8"/>
                </a:solidFill>
                <a:latin typeface="Calibri" pitchFamily="34" charset="0"/>
                <a:ea typeface="Calibri" pitchFamily="34" charset="-122"/>
                <a:cs typeface="Calibri" pitchFamily="34" charset="-120"/>
              </a:rPr>
              <a:t>DIAGNOSTIC</a:t>
            </a:r>
            <a:endParaRPr lang="en-US" sz="1300" dirty="0"/>
          </a:p>
        </p:txBody>
      </p:sp>
      <p:sp>
        <p:nvSpPr>
          <p:cNvPr id="7" name="Text 5"/>
          <p:cNvSpPr/>
          <p:nvPr/>
        </p:nvSpPr>
        <p:spPr>
          <a:xfrm>
            <a:off x="914400" y="2468880"/>
            <a:ext cx="3108960" cy="914400"/>
          </a:xfrm>
          <a:prstGeom prst="rect">
            <a:avLst/>
          </a:prstGeom>
          <a:noFill/>
          <a:ln/>
        </p:spPr>
        <p:txBody>
          <a:bodyPr wrap="square" rtlCol="0" anchor="ctr"/>
          <a:lstStyle/>
          <a:p>
            <a:pPr indent="0" marL="0">
              <a:buNone/>
            </a:pPr>
            <a:r>
              <a:rPr lang="en-US" sz="4800" b="1" dirty="0">
                <a:solidFill>
                  <a:srgbClr val="F1F5F9"/>
                </a:solidFill>
                <a:latin typeface="Calibri" pitchFamily="34" charset="0"/>
                <a:ea typeface="Calibri" pitchFamily="34" charset="-122"/>
                <a:cs typeface="Calibri" pitchFamily="34" charset="-120"/>
              </a:rPr>
              <a:t>$50K</a:t>
            </a:r>
            <a:endParaRPr lang="en-US" sz="4800" dirty="0"/>
          </a:p>
        </p:txBody>
      </p:sp>
      <p:sp>
        <p:nvSpPr>
          <p:cNvPr id="8" name="Text 6"/>
          <p:cNvSpPr/>
          <p:nvPr/>
        </p:nvSpPr>
        <p:spPr>
          <a:xfrm>
            <a:off x="914400" y="3383280"/>
            <a:ext cx="310896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 engagement</a:t>
            </a:r>
            <a:endParaRPr lang="en-US" sz="1200" dirty="0"/>
          </a:p>
        </p:txBody>
      </p:sp>
      <p:sp>
        <p:nvSpPr>
          <p:cNvPr id="9" name="Shape 7"/>
          <p:cNvSpPr/>
          <p:nvPr/>
        </p:nvSpPr>
        <p:spPr>
          <a:xfrm>
            <a:off x="914400" y="3840480"/>
            <a:ext cx="3108960" cy="0"/>
          </a:xfrm>
          <a:prstGeom prst="line">
            <a:avLst/>
          </a:prstGeom>
          <a:noFill/>
          <a:ln w="6350">
            <a:solidFill>
              <a:srgbClr val="1F2A44"/>
            </a:solidFill>
            <a:prstDash val="solid"/>
          </a:ln>
        </p:spPr>
      </p:sp>
      <p:sp>
        <p:nvSpPr>
          <p:cNvPr id="10" name="Text 8"/>
          <p:cNvSpPr/>
          <p:nvPr/>
        </p:nvSpPr>
        <p:spPr>
          <a:xfrm>
            <a:off x="914400" y="3931920"/>
            <a:ext cx="3108960" cy="137160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One-off transformation portfolio assessment. Top-3 ranked initiatives. Executive PDF. 4 weeks from kickoff to delivery.</a:t>
            </a:r>
            <a:endParaRPr lang="en-US" sz="1200" dirty="0"/>
          </a:p>
        </p:txBody>
      </p:sp>
      <p:sp>
        <p:nvSpPr>
          <p:cNvPr id="11" name="Text 9"/>
          <p:cNvSpPr/>
          <p:nvPr/>
        </p:nvSpPr>
        <p:spPr>
          <a:xfrm>
            <a:off x="914400" y="5394960"/>
            <a:ext cx="3108960" cy="365760"/>
          </a:xfrm>
          <a:prstGeom prst="rect">
            <a:avLst/>
          </a:prstGeom>
          <a:noFill/>
          <a:ln/>
        </p:spPr>
        <p:txBody>
          <a:bodyPr wrap="square" rtlCol="0" anchor="ctr"/>
          <a:lstStyle/>
          <a:p>
            <a:pPr indent="0" marL="0">
              <a:buNone/>
            </a:pPr>
            <a:r>
              <a:rPr lang="en-US" sz="1100" b="1" i="1" dirty="0">
                <a:solidFill>
                  <a:srgbClr val="818CF8"/>
                </a:solidFill>
                <a:latin typeface="Calibri" pitchFamily="34" charset="0"/>
                <a:ea typeface="Calibri" pitchFamily="34" charset="-122"/>
                <a:cs typeface="Calibri" pitchFamily="34" charset="-120"/>
              </a:rPr>
              <a:t>First sale entry point. 70% gross margin.</a:t>
            </a:r>
            <a:endParaRPr lang="en-US" sz="1100" dirty="0"/>
          </a:p>
        </p:txBody>
      </p:sp>
      <p:sp>
        <p:nvSpPr>
          <p:cNvPr id="12" name="Shape 10"/>
          <p:cNvSpPr/>
          <p:nvPr/>
        </p:nvSpPr>
        <p:spPr>
          <a:xfrm>
            <a:off x="4480560" y="1828800"/>
            <a:ext cx="3474720" cy="4114800"/>
          </a:xfrm>
          <a:prstGeom prst="roundRect">
            <a:avLst>
              <a:gd name="adj" fmla="val 3158"/>
            </a:avLst>
          </a:prstGeom>
          <a:solidFill>
            <a:srgbClr val="131A2E"/>
          </a:solidFill>
          <a:ln w="12700">
            <a:solidFill>
              <a:srgbClr val="22D3EE"/>
            </a:solidFill>
            <a:prstDash val="solid"/>
          </a:ln>
        </p:spPr>
      </p:sp>
      <p:sp>
        <p:nvSpPr>
          <p:cNvPr id="13" name="Text 11"/>
          <p:cNvSpPr/>
          <p:nvPr/>
        </p:nvSpPr>
        <p:spPr>
          <a:xfrm>
            <a:off x="4663440" y="2011680"/>
            <a:ext cx="3108960" cy="365760"/>
          </a:xfrm>
          <a:prstGeom prst="rect">
            <a:avLst/>
          </a:prstGeom>
          <a:noFill/>
          <a:ln/>
        </p:spPr>
        <p:txBody>
          <a:bodyPr wrap="square" rtlCol="0" anchor="ctr"/>
          <a:lstStyle/>
          <a:p>
            <a:pPr indent="0" marL="0">
              <a:buNone/>
            </a:pPr>
            <a:r>
              <a:rPr lang="en-US" sz="1300" b="1" spc="200" kern="0" dirty="0">
                <a:solidFill>
                  <a:srgbClr val="22D3EE"/>
                </a:solidFill>
                <a:latin typeface="Calibri" pitchFamily="34" charset="0"/>
                <a:ea typeface="Calibri" pitchFamily="34" charset="-122"/>
                <a:cs typeface="Calibri" pitchFamily="34" charset="-120"/>
              </a:rPr>
              <a:t>RETAINER</a:t>
            </a:r>
            <a:endParaRPr lang="en-US" sz="1300" dirty="0"/>
          </a:p>
        </p:txBody>
      </p:sp>
      <p:sp>
        <p:nvSpPr>
          <p:cNvPr id="14" name="Text 12"/>
          <p:cNvSpPr/>
          <p:nvPr/>
        </p:nvSpPr>
        <p:spPr>
          <a:xfrm>
            <a:off x="4663440" y="2468880"/>
            <a:ext cx="3108960" cy="914400"/>
          </a:xfrm>
          <a:prstGeom prst="rect">
            <a:avLst/>
          </a:prstGeom>
          <a:noFill/>
          <a:ln/>
        </p:spPr>
        <p:txBody>
          <a:bodyPr wrap="square" rtlCol="0" anchor="ctr"/>
          <a:lstStyle/>
          <a:p>
            <a:pPr indent="0" marL="0">
              <a:buNone/>
            </a:pPr>
            <a:r>
              <a:rPr lang="en-US" sz="4800" b="1" dirty="0">
                <a:solidFill>
                  <a:srgbClr val="F1F5F9"/>
                </a:solidFill>
                <a:latin typeface="Calibri" pitchFamily="34" charset="0"/>
                <a:ea typeface="Calibri" pitchFamily="34" charset="-122"/>
                <a:cs typeface="Calibri" pitchFamily="34" charset="-120"/>
              </a:rPr>
              <a:t>$25K</a:t>
            </a:r>
            <a:endParaRPr lang="en-US" sz="4800" dirty="0"/>
          </a:p>
        </p:txBody>
      </p:sp>
      <p:sp>
        <p:nvSpPr>
          <p:cNvPr id="15" name="Text 13"/>
          <p:cNvSpPr/>
          <p:nvPr/>
        </p:nvSpPr>
        <p:spPr>
          <a:xfrm>
            <a:off x="4663440" y="3383280"/>
            <a:ext cx="310896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 month</a:t>
            </a:r>
            <a:endParaRPr lang="en-US" sz="1200" dirty="0"/>
          </a:p>
        </p:txBody>
      </p:sp>
      <p:sp>
        <p:nvSpPr>
          <p:cNvPr id="16" name="Shape 14"/>
          <p:cNvSpPr/>
          <p:nvPr/>
        </p:nvSpPr>
        <p:spPr>
          <a:xfrm>
            <a:off x="4663440" y="3840480"/>
            <a:ext cx="3108960" cy="0"/>
          </a:xfrm>
          <a:prstGeom prst="line">
            <a:avLst/>
          </a:prstGeom>
          <a:noFill/>
          <a:ln w="6350">
            <a:solidFill>
              <a:srgbClr val="1F2A44"/>
            </a:solidFill>
            <a:prstDash val="solid"/>
          </a:ln>
        </p:spPr>
      </p:sp>
      <p:sp>
        <p:nvSpPr>
          <p:cNvPr id="17" name="Text 15"/>
          <p:cNvSpPr/>
          <p:nvPr/>
        </p:nvSpPr>
        <p:spPr>
          <a:xfrm>
            <a:off x="4663440" y="3931920"/>
            <a:ext cx="3108960" cy="137160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Quarterly portfolio refresh. Custom scenarios. Bayesian calibration loop from outcome tracking. CFO inbox access for one analyst.</a:t>
            </a:r>
            <a:endParaRPr lang="en-US" sz="1200" dirty="0"/>
          </a:p>
        </p:txBody>
      </p:sp>
      <p:sp>
        <p:nvSpPr>
          <p:cNvPr id="18" name="Text 16"/>
          <p:cNvSpPr/>
          <p:nvPr/>
        </p:nvSpPr>
        <p:spPr>
          <a:xfrm>
            <a:off x="4663440" y="5394960"/>
            <a:ext cx="3108960" cy="365760"/>
          </a:xfrm>
          <a:prstGeom prst="rect">
            <a:avLst/>
          </a:prstGeom>
          <a:noFill/>
          <a:ln/>
        </p:spPr>
        <p:txBody>
          <a:bodyPr wrap="square" rtlCol="0" anchor="ctr"/>
          <a:lstStyle/>
          <a:p>
            <a:pPr indent="0" marL="0">
              <a:buNone/>
            </a:pPr>
            <a:r>
              <a:rPr lang="en-US" sz="1100" b="1" i="1" dirty="0">
                <a:solidFill>
                  <a:srgbClr val="22D3EE"/>
                </a:solidFill>
                <a:latin typeface="Calibri" pitchFamily="34" charset="0"/>
                <a:ea typeface="Calibri" pitchFamily="34" charset="-122"/>
                <a:cs typeface="Calibri" pitchFamily="34" charset="-120"/>
              </a:rPr>
              <a:t>Recurring revenue. 85% gross margin.</a:t>
            </a:r>
            <a:endParaRPr lang="en-US" sz="1100" dirty="0"/>
          </a:p>
        </p:txBody>
      </p:sp>
      <p:sp>
        <p:nvSpPr>
          <p:cNvPr id="19" name="Shape 17"/>
          <p:cNvSpPr/>
          <p:nvPr/>
        </p:nvSpPr>
        <p:spPr>
          <a:xfrm>
            <a:off x="8229600" y="1828800"/>
            <a:ext cx="3474720" cy="4114800"/>
          </a:xfrm>
          <a:prstGeom prst="roundRect">
            <a:avLst>
              <a:gd name="adj" fmla="val 3158"/>
            </a:avLst>
          </a:prstGeom>
          <a:solidFill>
            <a:srgbClr val="131A2E"/>
          </a:solidFill>
          <a:ln w="12700">
            <a:solidFill>
              <a:srgbClr val="34D399"/>
            </a:solidFill>
            <a:prstDash val="solid"/>
          </a:ln>
        </p:spPr>
      </p:sp>
      <p:sp>
        <p:nvSpPr>
          <p:cNvPr id="20" name="Text 18"/>
          <p:cNvSpPr/>
          <p:nvPr/>
        </p:nvSpPr>
        <p:spPr>
          <a:xfrm>
            <a:off x="8412480" y="2011680"/>
            <a:ext cx="3108960" cy="365760"/>
          </a:xfrm>
          <a:prstGeom prst="rect">
            <a:avLst/>
          </a:prstGeom>
          <a:noFill/>
          <a:ln/>
        </p:spPr>
        <p:txBody>
          <a:bodyPr wrap="square" rtlCol="0" anchor="ctr"/>
          <a:lstStyle/>
          <a:p>
            <a:pPr indent="0" marL="0">
              <a:buNone/>
            </a:pPr>
            <a:r>
              <a:rPr lang="en-US" sz="1300" b="1" spc="200" kern="0" dirty="0">
                <a:solidFill>
                  <a:srgbClr val="34D399"/>
                </a:solidFill>
                <a:latin typeface="Calibri" pitchFamily="34" charset="0"/>
                <a:ea typeface="Calibri" pitchFamily="34" charset="-122"/>
                <a:cs typeface="Calibri" pitchFamily="34" charset="-120"/>
              </a:rPr>
              <a:t>OUTCOME SHARE</a:t>
            </a:r>
            <a:endParaRPr lang="en-US" sz="1300" dirty="0"/>
          </a:p>
        </p:txBody>
      </p:sp>
      <p:sp>
        <p:nvSpPr>
          <p:cNvPr id="21" name="Text 19"/>
          <p:cNvSpPr/>
          <p:nvPr/>
        </p:nvSpPr>
        <p:spPr>
          <a:xfrm>
            <a:off x="8412480" y="2468880"/>
            <a:ext cx="3108960" cy="914400"/>
          </a:xfrm>
          <a:prstGeom prst="rect">
            <a:avLst/>
          </a:prstGeom>
          <a:noFill/>
          <a:ln/>
        </p:spPr>
        <p:txBody>
          <a:bodyPr wrap="square" rtlCol="0" anchor="ctr"/>
          <a:lstStyle/>
          <a:p>
            <a:pPr indent="0" marL="0">
              <a:buNone/>
            </a:pPr>
            <a:r>
              <a:rPr lang="en-US" sz="4800" b="1" dirty="0">
                <a:solidFill>
                  <a:srgbClr val="F1F5F9"/>
                </a:solidFill>
                <a:latin typeface="Calibri" pitchFamily="34" charset="0"/>
                <a:ea typeface="Calibri" pitchFamily="34" charset="-122"/>
                <a:cs typeface="Calibri" pitchFamily="34" charset="-120"/>
              </a:rPr>
              <a:t>5–10%</a:t>
            </a:r>
            <a:endParaRPr lang="en-US" sz="4800" dirty="0"/>
          </a:p>
        </p:txBody>
      </p:sp>
      <p:sp>
        <p:nvSpPr>
          <p:cNvPr id="22" name="Text 20"/>
          <p:cNvSpPr/>
          <p:nvPr/>
        </p:nvSpPr>
        <p:spPr>
          <a:xfrm>
            <a:off x="8412480" y="3383280"/>
            <a:ext cx="3108960" cy="36576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of measured savings</a:t>
            </a:r>
            <a:endParaRPr lang="en-US" sz="1200" dirty="0"/>
          </a:p>
        </p:txBody>
      </p:sp>
      <p:sp>
        <p:nvSpPr>
          <p:cNvPr id="23" name="Shape 21"/>
          <p:cNvSpPr/>
          <p:nvPr/>
        </p:nvSpPr>
        <p:spPr>
          <a:xfrm>
            <a:off x="8412480" y="3840480"/>
            <a:ext cx="3108960" cy="0"/>
          </a:xfrm>
          <a:prstGeom prst="line">
            <a:avLst/>
          </a:prstGeom>
          <a:noFill/>
          <a:ln w="6350">
            <a:solidFill>
              <a:srgbClr val="1F2A44"/>
            </a:solidFill>
            <a:prstDash val="solid"/>
          </a:ln>
        </p:spPr>
      </p:sp>
      <p:sp>
        <p:nvSpPr>
          <p:cNvPr id="24" name="Text 22"/>
          <p:cNvSpPr/>
          <p:nvPr/>
        </p:nvSpPr>
        <p:spPr>
          <a:xfrm>
            <a:off x="8412480" y="3931920"/>
            <a:ext cx="3108960" cy="137160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Aligned incentives: we share in delivered value over 18-24 months. Optional add-on to retainer. Only on cost-reduction initiatives.</a:t>
            </a:r>
            <a:endParaRPr lang="en-US" sz="1200" dirty="0"/>
          </a:p>
        </p:txBody>
      </p:sp>
      <p:sp>
        <p:nvSpPr>
          <p:cNvPr id="25" name="Text 23"/>
          <p:cNvSpPr/>
          <p:nvPr/>
        </p:nvSpPr>
        <p:spPr>
          <a:xfrm>
            <a:off x="8412480" y="5394960"/>
            <a:ext cx="3108960" cy="365760"/>
          </a:xfrm>
          <a:prstGeom prst="rect">
            <a:avLst/>
          </a:prstGeom>
          <a:noFill/>
          <a:ln/>
        </p:spPr>
        <p:txBody>
          <a:bodyPr wrap="square" rtlCol="0" anchor="ctr"/>
          <a:lstStyle/>
          <a:p>
            <a:pPr indent="0" marL="0">
              <a:buNone/>
            </a:pPr>
            <a:r>
              <a:rPr lang="en-US" sz="1100" b="1" i="1" dirty="0">
                <a:solidFill>
                  <a:srgbClr val="34D399"/>
                </a:solidFill>
                <a:latin typeface="Calibri" pitchFamily="34" charset="0"/>
                <a:ea typeface="Calibri" pitchFamily="34" charset="-122"/>
                <a:cs typeface="Calibri" pitchFamily="34" charset="-120"/>
              </a:rPr>
              <a:t>Upside model. Negotiated case-by-case.</a:t>
            </a:r>
            <a:endParaRPr lang="en-US" sz="1100" dirty="0"/>
          </a:p>
        </p:txBody>
      </p:sp>
      <p:sp>
        <p:nvSpPr>
          <p:cNvPr id="26" name="Text 24"/>
          <p:cNvSpPr/>
          <p:nvPr/>
        </p:nvSpPr>
        <p:spPr>
          <a:xfrm>
            <a:off x="731520" y="6217920"/>
            <a:ext cx="10972800" cy="457200"/>
          </a:xfrm>
          <a:prstGeom prst="rect">
            <a:avLst/>
          </a:prstGeom>
          <a:noFill/>
          <a:ln/>
        </p:spPr>
        <p:txBody>
          <a:bodyPr wrap="square" rtlCol="0" anchor="ctr"/>
          <a:lstStyle/>
          <a:p>
            <a:pPr indent="0" marL="0">
              <a:buNone/>
            </a:pPr>
            <a:r>
              <a:rPr lang="en-US" sz="1300" i="1" dirty="0">
                <a:solidFill>
                  <a:srgbClr val="F1F5F9"/>
                </a:solidFill>
                <a:latin typeface="Calibri" pitchFamily="34" charset="0"/>
                <a:ea typeface="Calibri" pitchFamily="34" charset="-122"/>
                <a:cs typeface="Calibri" pitchFamily="34" charset="-120"/>
              </a:rPr>
              <a:t>Year-1 plan: 6 diagnostics ($300K) + 3 retainers ($900K ARR by Q4) + 1 outcome-share pilot. Net: $1.2M Y1 revenue.</a:t>
            </a:r>
            <a:endParaRPr lang="en-US" sz="1300" dirty="0"/>
          </a:p>
        </p:txBody>
      </p:sp>
      <p:sp>
        <p:nvSpPr>
          <p:cNvPr id="27" name="Text 25"/>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28" name="Text 26"/>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12</a:t>
            </a:r>
            <a:endParaRPr lang="en-US" sz="1000" dirty="0"/>
          </a:p>
        </p:txBody>
      </p:sp>
      <p:sp>
        <p:nvSpPr>
          <p:cNvPr id="29" name="Shape 27"/>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731520" y="548640"/>
            <a:ext cx="2377440" cy="274320"/>
          </a:xfrm>
          <a:prstGeom prst="roundRect">
            <a:avLst>
              <a:gd name="adj" fmla="val 16667"/>
            </a:avLst>
          </a:prstGeom>
          <a:solidFill>
            <a:srgbClr val="1F2A44"/>
          </a:solidFill>
          <a:ln w="12700">
            <a:solidFill>
              <a:srgbClr val="6366F1"/>
            </a:solidFill>
            <a:prstDash val="solid"/>
          </a:ln>
        </p:spPr>
      </p:sp>
      <p:sp>
        <p:nvSpPr>
          <p:cNvPr id="3" name="Text 1"/>
          <p:cNvSpPr/>
          <p:nvPr/>
        </p:nvSpPr>
        <p:spPr>
          <a:xfrm>
            <a:off x="822960" y="548640"/>
            <a:ext cx="2194560" cy="274320"/>
          </a:xfrm>
          <a:prstGeom prst="rect">
            <a:avLst/>
          </a:prstGeom>
          <a:noFill/>
          <a:ln/>
        </p:spPr>
        <p:txBody>
          <a:bodyPr wrap="square" rtlCol="0" anchor="ctr"/>
          <a:lstStyle/>
          <a:p>
            <a:pPr algn="ctr" indent="0" marL="0">
              <a:buNone/>
            </a:pPr>
            <a:r>
              <a:rPr lang="en-US" sz="1000" b="1" dirty="0">
                <a:solidFill>
                  <a:srgbClr val="818CF8"/>
                </a:solidFill>
                <a:latin typeface="Calibri" pitchFamily="34" charset="0"/>
                <a:ea typeface="Calibri" pitchFamily="34" charset="-122"/>
                <a:cs typeface="Calibri" pitchFamily="34" charset="-120"/>
              </a:rPr>
              <a:t>THE ASK</a:t>
            </a:r>
            <a:endParaRPr lang="en-US" sz="1000" dirty="0"/>
          </a:p>
        </p:txBody>
      </p:sp>
      <p:sp>
        <p:nvSpPr>
          <p:cNvPr id="4" name="Text 2"/>
          <p:cNvSpPr/>
          <p:nvPr/>
        </p:nvSpPr>
        <p:spPr>
          <a:xfrm>
            <a:off x="731520" y="1005840"/>
            <a:ext cx="10972800" cy="137160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Seed round to land first 5 paying clients</a:t>
            </a:r>
            <a:endParaRPr lang="en-US" sz="3200" dirty="0"/>
          </a:p>
          <a:p>
            <a:pPr indent="0" marL="0">
              <a:buNone/>
            </a:pPr>
            <a:r>
              <a:rPr lang="en-US" sz="3200" b="1" dirty="0">
                <a:solidFill>
                  <a:srgbClr val="F1F5F9"/>
                </a:solidFill>
                <a:latin typeface="Calibri" pitchFamily="34" charset="0"/>
                <a:ea typeface="Calibri" pitchFamily="34" charset="-122"/>
                <a:cs typeface="Calibri" pitchFamily="34" charset="-120"/>
              </a:rPr>
              <a:t>and launch the banking vertical.</a:t>
            </a:r>
            <a:endParaRPr lang="en-US" sz="3200" dirty="0"/>
          </a:p>
        </p:txBody>
      </p:sp>
      <p:sp>
        <p:nvSpPr>
          <p:cNvPr id="5" name="Shape 3"/>
          <p:cNvSpPr/>
          <p:nvPr/>
        </p:nvSpPr>
        <p:spPr>
          <a:xfrm>
            <a:off x="731520" y="2743200"/>
            <a:ext cx="5303520" cy="3703320"/>
          </a:xfrm>
          <a:prstGeom prst="roundRect">
            <a:avLst>
              <a:gd name="adj" fmla="val 3704"/>
            </a:avLst>
          </a:prstGeom>
          <a:solidFill>
            <a:srgbClr val="131A2E"/>
          </a:solidFill>
          <a:ln w="25400">
            <a:solidFill>
              <a:srgbClr val="6366F1"/>
            </a:solidFill>
            <a:prstDash val="solid"/>
          </a:ln>
        </p:spPr>
      </p:sp>
      <p:sp>
        <p:nvSpPr>
          <p:cNvPr id="6" name="Text 4"/>
          <p:cNvSpPr/>
          <p:nvPr/>
        </p:nvSpPr>
        <p:spPr>
          <a:xfrm>
            <a:off x="914400" y="2926080"/>
            <a:ext cx="4937760" cy="365760"/>
          </a:xfrm>
          <a:prstGeom prst="rect">
            <a:avLst/>
          </a:prstGeom>
          <a:noFill/>
          <a:ln/>
        </p:spPr>
        <p:txBody>
          <a:bodyPr wrap="square"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RAISING</a:t>
            </a:r>
            <a:endParaRPr lang="en-US" sz="1200" dirty="0"/>
          </a:p>
        </p:txBody>
      </p:sp>
      <p:sp>
        <p:nvSpPr>
          <p:cNvPr id="7" name="Text 5"/>
          <p:cNvSpPr/>
          <p:nvPr/>
        </p:nvSpPr>
        <p:spPr>
          <a:xfrm>
            <a:off x="914400" y="3383280"/>
            <a:ext cx="4937760" cy="1280160"/>
          </a:xfrm>
          <a:prstGeom prst="rect">
            <a:avLst/>
          </a:prstGeom>
          <a:noFill/>
          <a:ln/>
        </p:spPr>
        <p:txBody>
          <a:bodyPr wrap="square" rtlCol="0" anchor="ctr"/>
          <a:lstStyle/>
          <a:p>
            <a:pPr indent="0" marL="0">
              <a:buNone/>
            </a:pPr>
            <a:r>
              <a:rPr lang="en-US" sz="8000" b="1" dirty="0">
                <a:solidFill>
                  <a:srgbClr val="F1F5F9"/>
                </a:solidFill>
                <a:latin typeface="Calibri" pitchFamily="34" charset="0"/>
                <a:ea typeface="Calibri" pitchFamily="34" charset="-122"/>
                <a:cs typeface="Calibri" pitchFamily="34" charset="-120"/>
              </a:rPr>
              <a:t>$800K</a:t>
            </a:r>
            <a:endParaRPr lang="en-US" sz="8000" dirty="0"/>
          </a:p>
        </p:txBody>
      </p:sp>
      <p:sp>
        <p:nvSpPr>
          <p:cNvPr id="8" name="Text 6"/>
          <p:cNvSpPr/>
          <p:nvPr/>
        </p:nvSpPr>
        <p:spPr>
          <a:xfrm>
            <a:off x="914400" y="4572000"/>
            <a:ext cx="4937760" cy="365760"/>
          </a:xfrm>
          <a:prstGeom prst="rect">
            <a:avLst/>
          </a:prstGeom>
          <a:noFill/>
          <a:ln/>
        </p:spPr>
        <p:txBody>
          <a:bodyPr wrap="square" rtlCol="0" anchor="ctr"/>
          <a:lstStyle/>
          <a:p>
            <a:pPr indent="0" marL="0">
              <a:buNone/>
            </a:pPr>
            <a:r>
              <a:rPr lang="en-US" sz="1400" dirty="0">
                <a:solidFill>
                  <a:srgbClr val="CBD5E1"/>
                </a:solidFill>
                <a:latin typeface="Calibri" pitchFamily="34" charset="0"/>
                <a:ea typeface="Calibri" pitchFamily="34" charset="-122"/>
                <a:cs typeface="Calibri" pitchFamily="34" charset="-120"/>
              </a:rPr>
              <a:t>18-month runway · SAFE post-money cap $5M</a:t>
            </a:r>
            <a:endParaRPr lang="en-US" sz="1400" dirty="0"/>
          </a:p>
        </p:txBody>
      </p:sp>
      <p:sp>
        <p:nvSpPr>
          <p:cNvPr id="9" name="Text 7"/>
          <p:cNvSpPr/>
          <p:nvPr/>
        </p:nvSpPr>
        <p:spPr>
          <a:xfrm>
            <a:off x="914400" y="5120640"/>
            <a:ext cx="4937760" cy="320040"/>
          </a:xfrm>
          <a:prstGeom prst="rect">
            <a:avLst/>
          </a:prstGeom>
          <a:noFill/>
          <a:ln/>
        </p:spPr>
        <p:txBody>
          <a:bodyPr wrap="square" rtlCol="0" anchor="ctr"/>
          <a:lstStyle/>
          <a:p>
            <a:pPr indent="0" marL="0">
              <a:buNone/>
            </a:pPr>
            <a:r>
              <a:rPr lang="en-US" sz="1200" b="1" spc="100" kern="0" dirty="0">
                <a:solidFill>
                  <a:srgbClr val="94A3B8"/>
                </a:solidFill>
                <a:latin typeface="Calibri" pitchFamily="34" charset="0"/>
                <a:ea typeface="Calibri" pitchFamily="34" charset="-122"/>
                <a:cs typeface="Calibri" pitchFamily="34" charset="-120"/>
              </a:rPr>
              <a:t>Use of funds:</a:t>
            </a:r>
            <a:endParaRPr lang="en-US" sz="1200" dirty="0"/>
          </a:p>
        </p:txBody>
      </p:sp>
      <p:sp>
        <p:nvSpPr>
          <p:cNvPr id="10" name="Text 8"/>
          <p:cNvSpPr/>
          <p:nvPr/>
        </p:nvSpPr>
        <p:spPr>
          <a:xfrm>
            <a:off x="914400" y="5440680"/>
            <a:ext cx="4937760" cy="1097280"/>
          </a:xfrm>
          <a:prstGeom prst="rect">
            <a:avLst/>
          </a:prstGeom>
          <a:noFill/>
          <a:ln/>
        </p:spPr>
        <p:txBody>
          <a:bodyPr wrap="square" rtlCol="0" anchor="ctr"/>
          <a:lstStyle/>
          <a:p>
            <a:pPr indent="0" marL="0">
              <a:lnSpc>
                <a:spcPct val="120000"/>
              </a:lnSpc>
              <a:spcAft>
                <a:spcPts val="200"/>
              </a:spcAft>
              <a:buNone/>
            </a:pPr>
            <a:r>
              <a:rPr lang="en-US" sz="1100" dirty="0">
                <a:solidFill>
                  <a:srgbClr val="CBD5E1"/>
                </a:solidFill>
                <a:latin typeface="Calibri" pitchFamily="34" charset="0"/>
                <a:ea typeface="Calibri" pitchFamily="34" charset="-122"/>
                <a:cs typeface="Calibri" pitchFamily="34" charset="-120"/>
              </a:rPr>
              <a:t>$400K · engineering (2 senior engineers)</a:t>
            </a:r>
            <a:endParaRPr lang="en-US" sz="1100" dirty="0"/>
          </a:p>
          <a:p>
            <a:pPr indent="0" marL="0">
              <a:lnSpc>
                <a:spcPct val="120000"/>
              </a:lnSpc>
              <a:spcAft>
                <a:spcPts val="200"/>
              </a:spcAft>
              <a:buNone/>
            </a:pPr>
            <a:r>
              <a:rPr lang="en-US" sz="1100" dirty="0">
                <a:solidFill>
                  <a:srgbClr val="CBD5E1"/>
                </a:solidFill>
                <a:latin typeface="Calibri" pitchFamily="34" charset="0"/>
                <a:ea typeface="Calibri" pitchFamily="34" charset="-122"/>
                <a:cs typeface="Calibri" pitchFamily="34" charset="-120"/>
              </a:rPr>
              <a:t>$200K · data curation (banking vertical)</a:t>
            </a:r>
            <a:endParaRPr lang="en-US" sz="1100" dirty="0"/>
          </a:p>
          <a:p>
            <a:pPr indent="0" marL="0">
              <a:lnSpc>
                <a:spcPct val="120000"/>
              </a:lnSpc>
              <a:spcAft>
                <a:spcPts val="200"/>
              </a:spcAft>
              <a:buNone/>
            </a:pPr>
            <a:r>
              <a:rPr lang="en-US" sz="1100" dirty="0">
                <a:solidFill>
                  <a:srgbClr val="CBD5E1"/>
                </a:solidFill>
                <a:latin typeface="Calibri" pitchFamily="34" charset="0"/>
                <a:ea typeface="Calibri" pitchFamily="34" charset="-122"/>
                <a:cs typeface="Calibri" pitchFamily="34" charset="-120"/>
              </a:rPr>
              <a:t>$150K · sales &amp; first client GTM</a:t>
            </a:r>
            <a:endParaRPr lang="en-US" sz="1100" dirty="0"/>
          </a:p>
          <a:p>
            <a:pPr indent="0" marL="0">
              <a:lnSpc>
                <a:spcPct val="120000"/>
              </a:lnSpc>
              <a:spcAft>
                <a:spcPts val="200"/>
              </a:spcAft>
              <a:buNone/>
            </a:pPr>
            <a:r>
              <a:rPr lang="en-US" sz="1100" dirty="0">
                <a:solidFill>
                  <a:srgbClr val="CBD5E1"/>
                </a:solidFill>
                <a:latin typeface="Calibri" pitchFamily="34" charset="0"/>
                <a:ea typeface="Calibri" pitchFamily="34" charset="-122"/>
                <a:cs typeface="Calibri" pitchFamily="34" charset="-120"/>
              </a:rPr>
              <a:t>$50K · infra &amp; ops</a:t>
            </a:r>
            <a:endParaRPr lang="en-US" sz="1100" dirty="0"/>
          </a:p>
        </p:txBody>
      </p:sp>
      <p:sp>
        <p:nvSpPr>
          <p:cNvPr id="11" name="Shape 9"/>
          <p:cNvSpPr/>
          <p:nvPr/>
        </p:nvSpPr>
        <p:spPr>
          <a:xfrm>
            <a:off x="6217920" y="2743200"/>
            <a:ext cx="5486400" cy="3703320"/>
          </a:xfrm>
          <a:prstGeom prst="roundRect">
            <a:avLst>
              <a:gd name="adj" fmla="val 3704"/>
            </a:avLst>
          </a:prstGeom>
          <a:solidFill>
            <a:srgbClr val="131A2E"/>
          </a:solidFill>
          <a:ln w="12700">
            <a:solidFill>
              <a:srgbClr val="1F2A44"/>
            </a:solidFill>
            <a:prstDash val="solid"/>
          </a:ln>
        </p:spPr>
      </p:sp>
      <p:sp>
        <p:nvSpPr>
          <p:cNvPr id="12" name="Text 10"/>
          <p:cNvSpPr/>
          <p:nvPr/>
        </p:nvSpPr>
        <p:spPr>
          <a:xfrm>
            <a:off x="6400800" y="2926080"/>
            <a:ext cx="5120640" cy="365760"/>
          </a:xfrm>
          <a:prstGeom prst="rect">
            <a:avLst/>
          </a:prstGeom>
          <a:noFill/>
          <a:ln/>
        </p:spPr>
        <p:txBody>
          <a:bodyPr wrap="square"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18-MONTH MILESTONES</a:t>
            </a:r>
            <a:endParaRPr lang="en-US" sz="1200" dirty="0"/>
          </a:p>
        </p:txBody>
      </p:sp>
      <p:sp>
        <p:nvSpPr>
          <p:cNvPr id="13" name="Text 11"/>
          <p:cNvSpPr/>
          <p:nvPr/>
        </p:nvSpPr>
        <p:spPr>
          <a:xfrm>
            <a:off x="6400800" y="3429000"/>
            <a:ext cx="1280160" cy="365760"/>
          </a:xfrm>
          <a:prstGeom prst="rect">
            <a:avLst/>
          </a:prstGeom>
          <a:noFill/>
          <a:ln/>
        </p:spPr>
        <p:txBody>
          <a:bodyPr wrap="square" rtlCol="0" anchor="ctr"/>
          <a:lstStyle/>
          <a:p>
            <a:pPr indent="0" marL="0">
              <a:buNone/>
            </a:pPr>
            <a:r>
              <a:rPr lang="en-US" sz="1200" b="1" dirty="0">
                <a:solidFill>
                  <a:srgbClr val="818CF8"/>
                </a:solidFill>
                <a:latin typeface="Consolas" pitchFamily="34" charset="0"/>
                <a:ea typeface="Consolas" pitchFamily="34" charset="-122"/>
                <a:cs typeface="Consolas" pitchFamily="34" charset="-120"/>
              </a:rPr>
              <a:t>Q3 2026</a:t>
            </a:r>
            <a:endParaRPr lang="en-US" sz="1200" dirty="0"/>
          </a:p>
        </p:txBody>
      </p:sp>
      <p:sp>
        <p:nvSpPr>
          <p:cNvPr id="14" name="Text 12"/>
          <p:cNvSpPr/>
          <p:nvPr/>
        </p:nvSpPr>
        <p:spPr>
          <a:xfrm>
            <a:off x="7680960" y="3429000"/>
            <a:ext cx="402336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First 2 paying KTZ-tier diagnostics ($100K)</a:t>
            </a:r>
            <a:endParaRPr lang="en-US" sz="1200" dirty="0"/>
          </a:p>
        </p:txBody>
      </p:sp>
      <p:sp>
        <p:nvSpPr>
          <p:cNvPr id="15" name="Text 13"/>
          <p:cNvSpPr/>
          <p:nvPr/>
        </p:nvSpPr>
        <p:spPr>
          <a:xfrm>
            <a:off x="6400800" y="3931920"/>
            <a:ext cx="1280160" cy="365760"/>
          </a:xfrm>
          <a:prstGeom prst="rect">
            <a:avLst/>
          </a:prstGeom>
          <a:noFill/>
          <a:ln/>
        </p:spPr>
        <p:txBody>
          <a:bodyPr wrap="square" rtlCol="0" anchor="ctr"/>
          <a:lstStyle/>
          <a:p>
            <a:pPr indent="0" marL="0">
              <a:buNone/>
            </a:pPr>
            <a:r>
              <a:rPr lang="en-US" sz="1200" b="1" dirty="0">
                <a:solidFill>
                  <a:srgbClr val="818CF8"/>
                </a:solidFill>
                <a:latin typeface="Consolas" pitchFamily="34" charset="0"/>
                <a:ea typeface="Consolas" pitchFamily="34" charset="-122"/>
                <a:cs typeface="Consolas" pitchFamily="34" charset="-120"/>
              </a:rPr>
              <a:t>Q4 2026</a:t>
            </a:r>
            <a:endParaRPr lang="en-US" sz="1200" dirty="0"/>
          </a:p>
        </p:txBody>
      </p:sp>
      <p:sp>
        <p:nvSpPr>
          <p:cNvPr id="16" name="Text 14"/>
          <p:cNvSpPr/>
          <p:nvPr/>
        </p:nvSpPr>
        <p:spPr>
          <a:xfrm>
            <a:off x="7680960" y="3931920"/>
            <a:ext cx="402336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Banking vertical launched · 1 Kaspi-tier diagnostic</a:t>
            </a:r>
            <a:endParaRPr lang="en-US" sz="1200" dirty="0"/>
          </a:p>
        </p:txBody>
      </p:sp>
      <p:sp>
        <p:nvSpPr>
          <p:cNvPr id="17" name="Text 15"/>
          <p:cNvSpPr/>
          <p:nvPr/>
        </p:nvSpPr>
        <p:spPr>
          <a:xfrm>
            <a:off x="6400800" y="4434840"/>
            <a:ext cx="1280160" cy="365760"/>
          </a:xfrm>
          <a:prstGeom prst="rect">
            <a:avLst/>
          </a:prstGeom>
          <a:noFill/>
          <a:ln/>
        </p:spPr>
        <p:txBody>
          <a:bodyPr wrap="square" rtlCol="0" anchor="ctr"/>
          <a:lstStyle/>
          <a:p>
            <a:pPr indent="0" marL="0">
              <a:buNone/>
            </a:pPr>
            <a:r>
              <a:rPr lang="en-US" sz="1200" b="1" dirty="0">
                <a:solidFill>
                  <a:srgbClr val="818CF8"/>
                </a:solidFill>
                <a:latin typeface="Consolas" pitchFamily="34" charset="0"/>
                <a:ea typeface="Consolas" pitchFamily="34" charset="-122"/>
                <a:cs typeface="Consolas" pitchFamily="34" charset="-120"/>
              </a:rPr>
              <a:t>Q1 2027</a:t>
            </a:r>
            <a:endParaRPr lang="en-US" sz="1200" dirty="0"/>
          </a:p>
        </p:txBody>
      </p:sp>
      <p:sp>
        <p:nvSpPr>
          <p:cNvPr id="18" name="Text 16"/>
          <p:cNvSpPr/>
          <p:nvPr/>
        </p:nvSpPr>
        <p:spPr>
          <a:xfrm>
            <a:off x="7680960" y="4434840"/>
            <a:ext cx="402336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3 retainers running · first outcome record</a:t>
            </a:r>
            <a:endParaRPr lang="en-US" sz="1200" dirty="0"/>
          </a:p>
        </p:txBody>
      </p:sp>
      <p:sp>
        <p:nvSpPr>
          <p:cNvPr id="19" name="Text 17"/>
          <p:cNvSpPr/>
          <p:nvPr/>
        </p:nvSpPr>
        <p:spPr>
          <a:xfrm>
            <a:off x="6400800" y="4937760"/>
            <a:ext cx="1280160" cy="365760"/>
          </a:xfrm>
          <a:prstGeom prst="rect">
            <a:avLst/>
          </a:prstGeom>
          <a:noFill/>
          <a:ln/>
        </p:spPr>
        <p:txBody>
          <a:bodyPr wrap="square" rtlCol="0" anchor="ctr"/>
          <a:lstStyle/>
          <a:p>
            <a:pPr indent="0" marL="0">
              <a:buNone/>
            </a:pPr>
            <a:r>
              <a:rPr lang="en-US" sz="1200" b="1" dirty="0">
                <a:solidFill>
                  <a:srgbClr val="818CF8"/>
                </a:solidFill>
                <a:latin typeface="Consolas" pitchFamily="34" charset="0"/>
                <a:ea typeface="Consolas" pitchFamily="34" charset="-122"/>
                <a:cs typeface="Consolas" pitchFamily="34" charset="-120"/>
              </a:rPr>
              <a:t>Q2 2027</a:t>
            </a:r>
            <a:endParaRPr lang="en-US" sz="1200" dirty="0"/>
          </a:p>
        </p:txBody>
      </p:sp>
      <p:sp>
        <p:nvSpPr>
          <p:cNvPr id="20" name="Text 18"/>
          <p:cNvSpPr/>
          <p:nvPr/>
        </p:nvSpPr>
        <p:spPr>
          <a:xfrm>
            <a:off x="7680960" y="4937760"/>
            <a:ext cx="402336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5 active engagements · $1M ARR · oil &amp; gas vertical</a:t>
            </a:r>
            <a:endParaRPr lang="en-US" sz="1200" dirty="0"/>
          </a:p>
        </p:txBody>
      </p:sp>
      <p:sp>
        <p:nvSpPr>
          <p:cNvPr id="21" name="Text 19"/>
          <p:cNvSpPr/>
          <p:nvPr/>
        </p:nvSpPr>
        <p:spPr>
          <a:xfrm>
            <a:off x="6400800" y="5440680"/>
            <a:ext cx="1280160" cy="365760"/>
          </a:xfrm>
          <a:prstGeom prst="rect">
            <a:avLst/>
          </a:prstGeom>
          <a:noFill/>
          <a:ln/>
        </p:spPr>
        <p:txBody>
          <a:bodyPr wrap="square" rtlCol="0" anchor="ctr"/>
          <a:lstStyle/>
          <a:p>
            <a:pPr indent="0" marL="0">
              <a:buNone/>
            </a:pPr>
            <a:r>
              <a:rPr lang="en-US" sz="1200" b="1" dirty="0">
                <a:solidFill>
                  <a:srgbClr val="818CF8"/>
                </a:solidFill>
                <a:latin typeface="Consolas" pitchFamily="34" charset="0"/>
                <a:ea typeface="Consolas" pitchFamily="34" charset="-122"/>
                <a:cs typeface="Consolas" pitchFamily="34" charset="-120"/>
              </a:rPr>
              <a:t>Q3 2027</a:t>
            </a:r>
            <a:endParaRPr lang="en-US" sz="1200" dirty="0"/>
          </a:p>
        </p:txBody>
      </p:sp>
      <p:sp>
        <p:nvSpPr>
          <p:cNvPr id="22" name="Text 20"/>
          <p:cNvSpPr/>
          <p:nvPr/>
        </p:nvSpPr>
        <p:spPr>
          <a:xfrm>
            <a:off x="7680960" y="5440680"/>
            <a:ext cx="4023360" cy="36576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Series A readiness · 10+ outcomes in calibration</a:t>
            </a:r>
            <a:endParaRPr lang="en-US" sz="1200" dirty="0"/>
          </a:p>
        </p:txBody>
      </p:sp>
      <p:sp>
        <p:nvSpPr>
          <p:cNvPr id="23" name="Text 21"/>
          <p:cNvSpPr/>
          <p:nvPr/>
        </p:nvSpPr>
        <p:spPr>
          <a:xfrm>
            <a:off x="457200" y="6492240"/>
            <a:ext cx="27432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TimeStone AI</a:t>
            </a:r>
            <a:endParaRPr lang="en-US" sz="1000" dirty="0"/>
          </a:p>
        </p:txBody>
      </p:sp>
      <p:sp>
        <p:nvSpPr>
          <p:cNvPr id="24" name="Text 22"/>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12</a:t>
            </a:r>
            <a:endParaRPr lang="en-US" sz="1000" dirty="0"/>
          </a:p>
        </p:txBody>
      </p:sp>
      <p:sp>
        <p:nvSpPr>
          <p:cNvPr id="25" name="Shape 23"/>
          <p:cNvSpPr/>
          <p:nvPr/>
        </p:nvSpPr>
        <p:spPr>
          <a:xfrm>
            <a:off x="365760" y="6574536"/>
            <a:ext cx="64008" cy="64008"/>
          </a:xfrm>
          <a:prstGeom prst="ellipse">
            <a:avLst/>
          </a:prstGeom>
          <a:solidFill>
            <a:srgbClr val="818CF8"/>
          </a:solidFill>
          <a:ln w="12700">
            <a:solidFill>
              <a:srgbClr val="818CF8"/>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912"/>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6366F1"/>
          </a:solidFill>
          <a:ln w="12700">
            <a:solidFill>
              <a:srgbClr val="6366F1"/>
            </a:solidFill>
            <a:prstDash val="solid"/>
          </a:ln>
        </p:spPr>
      </p:sp>
      <p:sp>
        <p:nvSpPr>
          <p:cNvPr id="3" name="Text 1"/>
          <p:cNvSpPr/>
          <p:nvPr/>
        </p:nvSpPr>
        <p:spPr>
          <a:xfrm>
            <a:off x="731520" y="1828800"/>
            <a:ext cx="10972800" cy="1371600"/>
          </a:xfrm>
          <a:prstGeom prst="rect">
            <a:avLst/>
          </a:prstGeom>
          <a:noFill/>
          <a:ln/>
        </p:spPr>
        <p:txBody>
          <a:bodyPr wrap="square" rtlCol="0" anchor="ctr"/>
          <a:lstStyle/>
          <a:p>
            <a:pPr indent="0" marL="0">
              <a:buNone/>
            </a:pPr>
            <a:r>
              <a:rPr lang="en-US" sz="6400" b="1" i="1" dirty="0">
                <a:solidFill>
                  <a:srgbClr val="F1F5F9"/>
                </a:solidFill>
                <a:latin typeface="Calibri" pitchFamily="34" charset="0"/>
                <a:ea typeface="Calibri" pitchFamily="34" charset="-122"/>
                <a:cs typeface="Calibri" pitchFamily="34" charset="-120"/>
              </a:rPr>
              <a:t>Math, not optimism.</a:t>
            </a:r>
            <a:endParaRPr lang="en-US" sz="6400" dirty="0"/>
          </a:p>
        </p:txBody>
      </p:sp>
      <p:sp>
        <p:nvSpPr>
          <p:cNvPr id="4" name="Text 2"/>
          <p:cNvSpPr/>
          <p:nvPr/>
        </p:nvSpPr>
        <p:spPr>
          <a:xfrm>
            <a:off x="731520" y="3291840"/>
            <a:ext cx="10972800" cy="640080"/>
          </a:xfrm>
          <a:prstGeom prst="rect">
            <a:avLst/>
          </a:prstGeom>
          <a:noFill/>
          <a:ln/>
        </p:spPr>
        <p:txBody>
          <a:bodyPr wrap="square" rtlCol="0" anchor="ctr"/>
          <a:lstStyle/>
          <a:p>
            <a:pPr indent="0" marL="0">
              <a:buNone/>
            </a:pPr>
            <a:r>
              <a:rPr lang="en-US" sz="2800" dirty="0">
                <a:solidFill>
                  <a:srgbClr val="22D3EE"/>
                </a:solidFill>
                <a:latin typeface="Calibri" pitchFamily="34" charset="0"/>
                <a:ea typeface="Calibri" pitchFamily="34" charset="-122"/>
                <a:cs typeface="Calibri" pitchFamily="34" charset="-120"/>
              </a:rPr>
              <a:t>Thank you. Questions?</a:t>
            </a:r>
            <a:endParaRPr lang="en-US" sz="2800" dirty="0"/>
          </a:p>
        </p:txBody>
      </p:sp>
      <p:sp>
        <p:nvSpPr>
          <p:cNvPr id="5" name="Shape 3"/>
          <p:cNvSpPr/>
          <p:nvPr/>
        </p:nvSpPr>
        <p:spPr>
          <a:xfrm>
            <a:off x="731520" y="4572000"/>
            <a:ext cx="7315200" cy="1463040"/>
          </a:xfrm>
          <a:prstGeom prst="roundRect">
            <a:avLst>
              <a:gd name="adj" fmla="val 6250"/>
            </a:avLst>
          </a:prstGeom>
          <a:solidFill>
            <a:srgbClr val="131A2E"/>
          </a:solidFill>
          <a:ln w="12700">
            <a:solidFill>
              <a:srgbClr val="1F2A44"/>
            </a:solidFill>
            <a:prstDash val="solid"/>
          </a:ln>
        </p:spPr>
      </p:sp>
      <p:sp>
        <p:nvSpPr>
          <p:cNvPr id="6" name="Text 4"/>
          <p:cNvSpPr/>
          <p:nvPr/>
        </p:nvSpPr>
        <p:spPr>
          <a:xfrm>
            <a:off x="914400" y="4709160"/>
            <a:ext cx="6949440" cy="457200"/>
          </a:xfrm>
          <a:prstGeom prst="rect">
            <a:avLst/>
          </a:prstGeom>
          <a:noFill/>
          <a:ln/>
        </p:spPr>
        <p:txBody>
          <a:bodyPr wrap="square" rtlCol="0" anchor="ctr"/>
          <a:lstStyle/>
          <a:p>
            <a:pPr indent="0" marL="0">
              <a:buNone/>
            </a:pPr>
            <a:r>
              <a:rPr lang="en-US" sz="2200" b="1" dirty="0">
                <a:solidFill>
                  <a:srgbClr val="F1F5F9"/>
                </a:solidFill>
                <a:latin typeface="Calibri" pitchFamily="34" charset="0"/>
                <a:ea typeface="Calibri" pitchFamily="34" charset="-122"/>
                <a:cs typeface="Calibri" pitchFamily="34" charset="-120"/>
              </a:rPr>
              <a:t>Arman Torebek</a:t>
            </a:r>
            <a:endParaRPr lang="en-US" sz="2200" dirty="0"/>
          </a:p>
        </p:txBody>
      </p:sp>
      <p:sp>
        <p:nvSpPr>
          <p:cNvPr id="7" name="Text 5"/>
          <p:cNvSpPr/>
          <p:nvPr/>
        </p:nvSpPr>
        <p:spPr>
          <a:xfrm>
            <a:off x="914400" y="5120640"/>
            <a:ext cx="6949440" cy="27432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Founder</a:t>
            </a:r>
            <a:endParaRPr lang="en-US" sz="1200" dirty="0"/>
          </a:p>
        </p:txBody>
      </p:sp>
      <p:sp>
        <p:nvSpPr>
          <p:cNvPr id="8" name="Text 6"/>
          <p:cNvSpPr/>
          <p:nvPr/>
        </p:nvSpPr>
        <p:spPr>
          <a:xfrm>
            <a:off x="914400" y="5394960"/>
            <a:ext cx="6949440" cy="548640"/>
          </a:xfrm>
          <a:prstGeom prst="rect">
            <a:avLst/>
          </a:prstGeom>
          <a:noFill/>
          <a:ln/>
        </p:spPr>
        <p:txBody>
          <a:bodyPr wrap="square" rtlCol="0" anchor="ctr"/>
          <a:lstStyle/>
          <a:p>
            <a:pPr indent="0" marL="0">
              <a:buNone/>
            </a:pPr>
            <a:r>
              <a:rPr lang="en-US" sz="1100" dirty="0">
                <a:solidFill>
                  <a:srgbClr val="22D3EE"/>
                </a:solidFill>
                <a:latin typeface="Consolas" pitchFamily="34" charset="0"/>
                <a:ea typeface="Consolas" pitchFamily="34" charset="-122"/>
                <a:cs typeface="Consolas" pitchFamily="34" charset="-120"/>
              </a:rPr>
              <a:t>arman.torebekk@gmail.com</a:t>
            </a:r>
            <a:endParaRPr lang="en-US" sz="1100" dirty="0"/>
          </a:p>
          <a:p>
            <a:pPr indent="0" marL="0">
              <a:buNone/>
            </a:pPr>
            <a:r>
              <a:rPr lang="en-US" sz="1100" dirty="0">
                <a:solidFill>
                  <a:srgbClr val="22D3EE"/>
                </a:solidFill>
                <a:latin typeface="Consolas" pitchFamily="34" charset="0"/>
                <a:ea typeface="Consolas" pitchFamily="34" charset="-122"/>
                <a:cs typeface="Consolas" pitchFamily="34" charset="-120"/>
              </a:rPr>
              <a:t>github.com/westfellow25/timestone-ai</a:t>
            </a:r>
            <a:endParaRPr lang="en-US" sz="1100" dirty="0"/>
          </a:p>
          <a:p>
            <a:pPr indent="0" marL="0">
              <a:buNone/>
            </a:pPr>
            <a:r>
              <a:rPr lang="en-US" sz="1100" dirty="0">
                <a:solidFill>
                  <a:srgbClr val="22D3EE"/>
                </a:solidFill>
                <a:latin typeface="Consolas" pitchFamily="34" charset="0"/>
                <a:ea typeface="Consolas" pitchFamily="34" charset="-122"/>
                <a:cs typeface="Consolas" pitchFamily="34" charset="-120"/>
              </a:rPr>
              <a:t>westfellow25.github.io/timestone-ai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TimeStone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TimeStone AI — Investor Pitch</dc:title>
  <dc:subject>PptxGenJS Presentation</dc:subject>
  <dc:creator>Arman Torebek</dc:creator>
  <cp:lastModifiedBy>Arman Torebek</cp:lastModifiedBy>
  <cp:revision>1</cp:revision>
  <dcterms:created xsi:type="dcterms:W3CDTF">2026-05-20T12:11:56Z</dcterms:created>
  <dcterms:modified xsi:type="dcterms:W3CDTF">2026-05-20T12:11:56Z</dcterms:modified>
</cp:coreProperties>
</file>